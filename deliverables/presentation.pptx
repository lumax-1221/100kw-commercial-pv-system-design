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8_1.xml" ContentType="application/vnd.openxmlformats-officedocument.drawingml.char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embedTrueTypeFonts="1" saveSubsetFonts="1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notesMasterIdLst>
    <p:notesMasterId r:id="rId15"/>
  </p:notesMasterIdLst>
  <p:sldSz cx="12192000" cy="6858000" type="custom"/>
  <p:notesSz cx="12192000" cy="6858000"/>
  <p:embeddedFontLst>
    <p:embeddedFont>
      <p:font typeface="MiSans" charset="-122" pitchFamily="34"/>
      <p:regular r:id="rId14"/>
    </p:embeddedFont>
  </p:embeddedFontLst>
</p:presentation>
</file>

<file path=ppt/presProps.xml><?xml version="1.0" encoding="utf-8"?>
<p:presentationPr xmlns:p="http://schemas.openxmlformats.org/presentationml/2006/main" xmlns:a="http://schemas.openxmlformats.org/drawingml/2006/main" xmlns:r="http://schemas.openxmlformats.org/officeDocument/2006/relationships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xmlns:r="http://schemas.openxmlformats.org/officeDocument/2006/relationships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font" Target="fonts/font1.fntdata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ableStyles" Target="tableStyles.xml"/></Relationships>
</file>

<file path=ppt/charts/chart8_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plotArea>
      <c:layout/>
      <c:barChart>
        <c:barDir val="col"/>
        <c:grouping val="clustered"/>
        <c:varyColors val="0"/>
        <c:ser>
          <c:idx val="0"/>
          <c:order val="0"/>
          <c:tx>
            <c:v>直流容量</c:v>
          </c:tx>
          <c:spPr>
            <a:solidFill>
              <a:srgbClr val="123B2F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1000" noProof="1" b="0" i="0" u="none" strike="noStrike">
                    <a:solidFill>
                      <a:srgbClr val="123B2F"/>
                    </a:solidFill>
                    <a:latin typeface="Arial"/>
                  </a:defRPr>
                </a:pPr>
                <a:endParaRPr lang="en-US" noProof="1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3"/>
              <c:pt idx="0">
                <c:v>A 保守</c:v>
              </c:pt>
              <c:pt idx="1">
                <c:v>B 平衡</c:v>
              </c:pt>
              <c:pt idx="2">
                <c:v>C 偏高</c:v>
              </c:pt>
            </c:strLit>
          </c:cat>
          <c:val>
            <c:numLit>
              <c:formatCode>General</c:formatCode>
              <c:ptCount val="3"/>
              <c:pt idx="0">
                <c:v>100</c:v>
              </c:pt>
              <c:pt idx="1">
                <c:v>111.2</c:v>
              </c:pt>
              <c:pt idx="2">
                <c:v>127.6</c:v>
              </c:pt>
            </c:numLit>
          </c:val>
        </c:ser>
        <c:gapWidth val="122"/>
        <c:overlap val="0"/>
        <c:axId val="1"/>
        <c:axId val="2"/>
      </c:barChart>
      <c:lineChart>
        <c:grouping val="standard"/>
        <c:varyColors val="0"/>
        <c:ser>
          <c:idx val="1"/>
          <c:order val="1"/>
          <c:tx>
            <c:v>容量比</c:v>
          </c:tx>
          <c:spPr>
            <a:solidFill>
              <a:srgbClr val="C97B2D"/>
            </a:solidFill>
            <a:ln w="38100">
              <a:solidFill>
                <a:srgbClr val="C97B2D"/>
              </a:solidFill>
            </a:ln>
          </c:spPr>
          <c:marker>
            <c:symbol val="circle"/>
            <c:size val="7"/>
            <c:spPr>
              <a:solidFill>
                <a:srgbClr val="C97B2D"/>
              </a:solidFill>
              <a:ln w="38100">
                <a:solidFill>
                  <a:srgbClr val="C97B2D"/>
                </a:solidFill>
              </a:ln>
            </c:spPr>
          </c:marker>
          <c:dLbls>
            <c:numFmt formatCode="0.00" sourceLinked="0"/>
            <c:txPr>
              <a:bodyPr/>
              <a:lstStyle/>
              <a:p>
                <a:pPr>
                  <a:defRPr sz="1000" noProof="1" b="0" i="0" u="none" strike="noStrike">
                    <a:solidFill>
                      <a:srgbClr val="C97B2D"/>
                    </a:solidFill>
                    <a:latin typeface="Arial"/>
                  </a:defRPr>
                </a:pPr>
                <a:endParaRPr lang="en-US" noProof="1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3"/>
              <c:pt idx="0">
                <c:v>A 保守</c:v>
              </c:pt>
              <c:pt idx="1">
                <c:v>B 平衡</c:v>
              </c:pt>
              <c:pt idx="2">
                <c:v>C 偏高</c:v>
              </c:pt>
            </c:strLit>
          </c:cat>
          <c:val>
            <c:numLit>
              <c:formatCode>General</c:formatCode>
              <c:ptCount val="3"/>
              <c:pt idx="0">
                <c:v>1</c:v>
              </c:pt>
              <c:pt idx="1">
                <c:v>1.11</c:v>
              </c:pt>
              <c:pt idx="2">
                <c:v>1.28</c:v>
              </c:pt>
            </c:numLit>
          </c:val>
          <c:smooth val="0"/>
        </c:ser>
        <c:axId val="1"/>
        <c:axId val="3"/>
      </c:line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100" noProof="1" b="0" i="0" u="none" strike="noStrike">
                <a:latin typeface="MiSans"/>
              </a:defRPr>
            </a:pPr>
            <a:endParaRPr lang="en-US" noProof="1"/>
          </a:p>
        </c:txPr>
        <c:crossAx val="2"/>
        <c:crosses val="autoZero"/>
        <c:auto val="1"/>
        <c:lblAlgn val="ctr"/>
        <c:noMultiLvlLbl val="1"/>
      </c:catAx>
      <c:valAx>
        <c:axId val="2"/>
        <c:scaling>
          <c:orientation val="minMax"/>
          <c:max val="150"/>
          <c:min val="0"/>
        </c:scaling>
        <c:delete val="0"/>
        <c:axPos val="l"/>
        <c:majorGridlines>
          <c:spPr>
            <a:ln w="12700">
              <a:solidFill>
                <a:srgbClr val="E5DFD0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200" noProof="1"/>
                  <a:t>直流容量 (kWp)</a:t>
                </a:r>
              </a:p>
            </c:rich>
          </c:tx>
          <c:layout>
            <c:manualLayout>
              <c:xMode val="edge"/>
              <c:yMode val="edge"/>
              <c:x val="0.02"/>
              <c:y val="0.44"/>
            </c:manualLayout>
          </c:layout>
          <c:overlay val="0"/>
        </c:title>
        <c:numFmt formatCode="0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200" noProof="1" b="0" i="0" u="none" strike="noStrike">
                <a:latin typeface="MiSans"/>
              </a:defRPr>
            </a:pPr>
            <a:endParaRPr lang="en-US" noProof="1"/>
          </a:p>
        </c:txPr>
        <c:crossAx val="1"/>
        <c:crosses val="autoZero"/>
        <c:crossBetween val="between"/>
        <c:majorUnit val="30"/>
      </c:valAx>
      <c:valAx>
        <c:axId val="3"/>
        <c:scaling>
          <c:orientation val="minMax"/>
          <c:max val="1.4"/>
          <c:min val="0.8"/>
        </c:scaling>
        <c:delete val="0"/>
        <c:axPos val="r"/>
        <c:majorGridlines>
          <c:spPr>
            <a:ln>
              <a:noFill/>
            </a:ln>
          </c:spPr>
        </c:majorGridlines>
        <c:title>
          <c:tx>
            <c:rich>
              <a:bodyPr/>
              <a:lstStyle/>
              <a:p>
                <a:r>
                  <a:rPr lang="en-US" sz="1200" noProof="1"/>
                  <a:t>容量比</a:t>
                </a:r>
              </a:p>
            </c:rich>
          </c:tx>
          <c:layout>
            <c:manualLayout>
              <c:xMode val="edge"/>
              <c:yMode val="edge"/>
              <c:x val="0.98"/>
              <c:y val="0.44"/>
            </c:manualLayout>
          </c:layout>
          <c:overlay val="0"/>
        </c:title>
        <c:numFmt formatCode="0.00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</a:ln>
        </c:spPr>
        <c:txPr>
          <a:bodyPr/>
          <a:lstStyle/>
          <a:p>
            <a:pPr>
              <a:defRPr sz="1200" noProof="1" b="0" i="0" u="none" strike="noStrike">
                <a:latin typeface="MiSans"/>
              </a:defRPr>
            </a:pPr>
            <a:endParaRPr lang="en-US" noProof="1"/>
          </a:p>
        </c:txPr>
        <c:crossAx val="1"/>
        <c:crosses val="max"/>
        <c:crossBetween val="between"/>
      </c:valAx>
      <c:spPr>
        <a:noFill/>
        <a:ln>
          <a:noFill/>
        </a:ln>
      </c:spPr>
    </c:plotArea>
    <c:legend>
      <c:legendPos val="b"/>
      <c:layout/>
      <c:overlay val="0"/>
      <c:txPr>
        <a:bodyPr/>
        <a:lstStyle/>
        <a:p>
          <a:pPr>
            <a:defRPr sz="1100" noProof="1" b="0" i="0" u="none" strike="noStrike">
              <a:latin typeface="MiSans"/>
            </a:defRPr>
          </a:pPr>
          <a:endParaRPr lang="en-US" noProof="1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noProof="1" b="0" i="0" u="none" strike="noStrike">
          <a:latin typeface="MiSans"/>
        </a:defRPr>
      </a:pPr>
      <a:endParaRPr lang="en-US" noProof="1"/>
    </a:p>
  </c:txPr>
</c:chartSpace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/>
          <p:nvPr>
            <p:ph type="body" idx="1"/>
          </p:nvPr>
        </p:nvSpPr>
        <p:spPr/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开场先交代项目性质：个人虚拟案例、青岛 800 m² 屋顶、100 kW 交流侧并网。核心方法是需求到参数到约束再到方案取舍，不是完整工程设计。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一句话结论先行：推荐 Jinko 585 W + Sungrow SG110CX，19 块/串 × 10 串，约 111.2 kWp，容量比 1.11。先硬约束筛选，再面积与维护取舍，不追求单项最大。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先交代场景与边界：青岛、800 m² 屋顶、100 kW 交流侧、无储能；只做方案级校核，不做施工与并网承诺。底部的系统链路给出整体边界。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组件样本：Jinko 与 Trina 同量级，但 Jinko 电压更高、更易落在 MPPT 区间；Trina 电流更大，并联时要关注输入电流余量。数据来自厂商公开 Datasheet。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逆变器样本：Sungrow SG110CX 与 Huawei 100KTL-M2 都能覆盖 100 kW，差异在 MPPT 路数与每路电流。选择不只看效率，还看维护习惯、通讯平台与采购可得性。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校核逻辑：低温看 Voc 上限（超过逆变器最大直流电压有设备风险），高温看 Vmp 下限（低于 MPPT 下限无法正常跟踪），并联还要同时看 Imp 与 Isc。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校核实例：Jinko 585 W 在 -10/70 °C 下，19 块/串低温 Voc 约 1084 V 通过 1100 V 上限；20 块/串约 1141 V 超限。高温 Vmp 约 719 V，处于 MPPT 范围。每 MPPT 先按 1 串接入。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三套方案同约束比较：A 保守（容量比 1.00）、B 平衡（1.11，推荐）、C 偏高（1.28）。B 在面积余量与直流利用率之间最均衡；C 接近 800 m² 面积上限。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推荐 B 的三个理由：面积有余量、直流侧更充分、配置更简单。结论依赖温度假设与面积系数，条件变化时要回到约束表重算。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风险与边界：SAM 年发电量尚未运行，不填虚构数字；结构、排布、线缆、保护、并网与报价均未承诺。下一步先把 SAM 跑起来。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 noProof="1"/>
              <a:t>收尾：交付物可复核，下一步先把 SAM 跑起来；一句话收尾讲清楚方案级分析的边界，不冒充施工与并网设计。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jinkosolar.com/uploads/JKM565-585N-72HL4-%28V%29-F4-EN.pdf" TargetMode="External"/><Relationship Id="rId4" Type="http://schemas.openxmlformats.org/officeDocument/2006/relationships/hyperlink" Target="https://static.trinasolar.com/sites/default/files/Datasheet_Vertex_DE19R.W_EU_2022A.pdf" TargetMode="Externa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en.sungrowpower.com/upload/documentFile/DS_SG110CX%20Datasheet_V14_EN.pdf.pdf" TargetMode="External"/><Relationship Id="rId4" Type="http://schemas.openxmlformats.org/officeDocument/2006/relationships/hyperlink" Target="https://solar.huawei.com/admin/asset/v1/pro/view/0d3b86d0da694d88b8a9871688cda48d.pdf" TargetMode="Externa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2" Type="http://schemas.openxmlformats.org/officeDocument/2006/relationships/chart" Target="../charts/chart8_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123B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un-ring"/>
          <p:cNvSpPr/>
          <p:nvPr/>
        </p:nvSpPr>
        <p:spPr>
          <a:xfrm>
            <a:off x="8712200" y="787400"/>
            <a:ext cx="1879600" cy="1879600"/>
          </a:xfrm>
          <a:prstGeom prst="donut">
            <a:avLst>
              <a:gd name="adj" fmla="val 25000"/>
            </a:avLst>
          </a:prstGeom>
          <a:solidFill>
            <a:srgbClr val="C97B2D">
              <a:alpha val="18000"/>
            </a:srgbClr>
          </a:solidFill>
          <a:ln>
            <a:noFill/>
          </a:ln>
        </p:spPr>
      </p:sp>
      <p:sp>
        <p:nvSpPr>
          <p:cNvPr id="3" name="cover-sun"/>
          <p:cNvSpPr/>
          <p:nvPr/>
        </p:nvSpPr>
        <p:spPr>
          <a:xfrm>
            <a:off x="9144000" y="1219200"/>
            <a:ext cx="1016000" cy="1016000"/>
          </a:xfrm>
          <a:prstGeom prst="ellipse">
            <a:avLst/>
          </a:prstGeom>
          <a:solidFill>
            <a:srgbClr val="C97B2D">
              <a:alpha val="92000"/>
            </a:srgbClr>
          </a:solidFill>
          <a:ln>
            <a:noFill/>
          </a:ln>
        </p:spPr>
      </p:sp>
      <p:sp>
        <p:nvSpPr>
          <p:cNvPr id="4" name="cover-roof"/>
          <p:cNvSpPr/>
          <p:nvPr>
            <p:extLst>
              <p:ext uri="{F5677B7D-0D2A-4D9B-9A5C-6D8D7D0E5A5D}">
                <pptd:line encoding="base64url">eyJ2aWV3Qm94IjpbMjkwLDEwMF0sInBvaW50cyI6IjAsMTAwIDcwLDMwIDE0MCwxMDAgMjA1LDQ1IDI5MCwxMDAiLCJjdXJ2ZSI6InNoYXJwIn0</pptd:line>
              </p:ext>
            </p:extLst>
          </p:nvPr>
        </p:nvSpPr>
        <p:spPr>
          <a:xfrm>
            <a:off x="7874000" y="4191000"/>
            <a:ext cx="3683000" cy="1270000"/>
          </a:xfrm>
          <a:custGeom>
            <a:avLst/>
            <a:gdLst/>
            <a:ahLst/>
            <a:cxnLst/>
            <a:rect l="l" t="t" r="r" b="b"/>
            <a:pathLst>
              <a:path w="290" h="100">
                <a:moveTo>
                  <a:pt x="0" y="100"/>
                </a:moveTo>
                <a:lnTo>
                  <a:pt x="70" y="30"/>
                </a:lnTo>
                <a:lnTo>
                  <a:pt x="140" y="100"/>
                </a:lnTo>
                <a:lnTo>
                  <a:pt x="205" y="45"/>
                </a:lnTo>
                <a:lnTo>
                  <a:pt x="290" y="100"/>
                </a:lnTo>
              </a:path>
            </a:pathLst>
          </a:custGeom>
          <a:noFill/>
          <a:ln w="38100">
            <a:solidFill>
              <a:srgbClr val="C97B2D"/>
            </a:solidFill>
          </a:ln>
        </p:spPr>
      </p:sp>
      <p:sp>
        <p:nvSpPr>
          <p:cNvPr id="5" name="cover-roof-base"/>
          <p:cNvSpPr/>
          <p:nvPr>
            <p:extLst>
              <p:ext uri="{F5677B7D-0D2A-4D9B-9A5C-6D8D7D0E5A5D}">
                <pptd:line encoding="base64url">eyJ2aWV3Qm94IjpbMjkwLDJdLCJwb2ludHMiOiIwLDEgMjkwLDEifQ</pptd:line>
              </p:ext>
            </p:extLst>
          </p:nvPr>
        </p:nvSpPr>
        <p:spPr>
          <a:xfrm>
            <a:off x="7874000" y="5486400"/>
            <a:ext cx="3683000" cy="25400"/>
          </a:xfrm>
          <a:custGeom>
            <a:avLst/>
            <a:gdLst/>
            <a:ahLst/>
            <a:cxnLst/>
            <a:rect l="l" t="t" r="r" b="b"/>
            <a:pathLst>
              <a:path w="290" h="2">
                <a:moveTo>
                  <a:pt x="0" y="1"/>
                </a:moveTo>
                <a:lnTo>
                  <a:pt x="290" y="1"/>
                </a:lnTo>
              </a:path>
            </a:pathLst>
          </a:custGeom>
          <a:noFill/>
          <a:ln w="25400" cap="rnd">
            <a:solidFill>
              <a:srgbClr val="3E6355"/>
            </a:solidFill>
            <a:round/>
          </a:ln>
        </p:spPr>
      </p:sp>
      <p:sp>
        <p:nvSpPr>
          <p:cNvPr id="6" name="cover-bar"/>
          <p:cNvSpPr/>
          <p:nvPr/>
        </p:nvSpPr>
        <p:spPr>
          <a:xfrm>
            <a:off x="889000" y="1498600"/>
            <a:ext cx="76200" cy="1498600"/>
          </a:xfrm>
          <a:prstGeom prst="rect">
            <a:avLst/>
          </a:prstGeom>
          <a:solidFill>
            <a:srgbClr val="C97B2D"/>
          </a:solidFill>
          <a:ln>
            <a:noFill/>
          </a:ln>
        </p:spPr>
      </p:sp>
      <p:sp>
        <p:nvSpPr>
          <p:cNvPr id="7" name="cover-kicker"/>
          <p:cNvSpPr txBox="1"/>
          <p:nvPr/>
        </p:nvSpPr>
        <p:spPr>
          <a:xfrm>
            <a:off x="965200" y="1524000"/>
            <a:ext cx="6604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PERSONAL CASE · QINGDAO · PV-100</a:t>
            </a:r>
            <a:endParaRPr lang="en-US" sz="1200" noProof="1"/>
          </a:p>
        </p:txBody>
      </p:sp>
      <p:sp>
        <p:nvSpPr>
          <p:cNvPr id="8" name="cover-title"/>
          <p:cNvSpPr txBox="1"/>
          <p:nvPr/>
        </p:nvSpPr>
        <p:spPr>
          <a:xfrm>
            <a:off x="889000" y="1981200"/>
            <a:ext cx="9144000" cy="177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2000"/>
              </a:lnSpc>
            </a:pPr>
            <a:r>
              <a:rPr lang="en-US" sz="4400" noProof="1" b="1">
                <a:solidFill>
                  <a:srgbClr val="FFFFFF"/>
                </a:solidFill>
                <a:latin typeface="MiSans"/>
                <a:ea typeface="MiSans"/>
              </a:rPr>
              <a:t>100 kW 工商业屋顶光伏</a:t>
            </a:r>
            <a:endParaRPr lang="en-US" sz="4400" noProof="1"/>
          </a:p>
          <a:p>
            <a:pPr>
              <a:lnSpc>
                <a:spcPct val="122000"/>
              </a:lnSpc>
            </a:pPr>
            <a:r>
              <a:rPr lang="en-US" sz="4400" noProof="1" b="1">
                <a:solidFill>
                  <a:srgbClr val="FFFFFF"/>
                </a:solidFill>
                <a:latin typeface="MiSans"/>
                <a:ea typeface="MiSans"/>
              </a:rPr>
              <a:t>方案设计与设备选型</a:t>
            </a:r>
            <a:endParaRPr lang="en-US" sz="4400" noProof="1"/>
          </a:p>
        </p:txBody>
      </p:sp>
      <p:sp>
        <p:nvSpPr>
          <p:cNvPr id="9" name="cover-subtitle"/>
          <p:cNvSpPr txBox="1"/>
          <p:nvPr/>
        </p:nvSpPr>
        <p:spPr>
          <a:xfrm>
            <a:off x="965200" y="3860800"/>
            <a:ext cx="812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0000"/>
              </a:lnSpc>
            </a:pPr>
            <a:r>
              <a:rPr lang="en-US" sz="1600" noProof="1">
                <a:solidFill>
                  <a:srgbClr val="E8EFEA"/>
                </a:solidFill>
                <a:latin typeface="MiSans"/>
                <a:ea typeface="MiSans"/>
              </a:rPr>
              <a:t>青岛 800 m² 假设屋顶 · 380/400 V 三相并网 · 无储能 · 个人方案分析</a:t>
            </a:r>
            <a:endParaRPr lang="en-US" sz="1600" noProof="1"/>
          </a:p>
        </p:txBody>
      </p:sp>
      <p:sp>
        <p:nvSpPr>
          <p:cNvPr id="10" name="cover-method"/>
          <p:cNvSpPr txBox="1"/>
          <p:nvPr/>
        </p:nvSpPr>
        <p:spPr>
          <a:xfrm>
            <a:off x="965200" y="4470400"/>
            <a:ext cx="863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0000"/>
              </a:lnSpc>
            </a:pPr>
            <a:r>
              <a:rPr lang="en-US" sz="1600" noProof="1">
                <a:solidFill>
                  <a:srgbClr val="C97B2D"/>
                </a:solidFill>
                <a:latin typeface="MiSans"/>
                <a:ea typeface="MiSans"/>
              </a:rPr>
              <a:t>核心方法</a:t>
            </a:r>
            <a:r>
              <a:rPr lang="en-US" sz="1600" noProof="1">
                <a:solidFill>
                  <a:srgbClr val="E8EFEA"/>
                </a:solidFill>
                <a:latin typeface="MiSans"/>
                <a:ea typeface="MiSans"/>
              </a:rPr>
              <a:t>　需求 → 参数 → 约束 → 方案取舍</a:t>
            </a:r>
            <a:endParaRPr lang="en-US" sz="1600" noProof="1"/>
          </a:p>
        </p:txBody>
      </p:sp>
      <p:sp>
        <p:nvSpPr>
          <p:cNvPr id="11" name="cover-footer"/>
          <p:cNvSpPr txBox="1"/>
          <p:nvPr/>
        </p:nvSpPr>
        <p:spPr>
          <a:xfrm>
            <a:off x="889000" y="61722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100" noProof="1">
                <a:solidFill>
                  <a:srgbClr val="9FB5AA"/>
                </a:solidFill>
                <a:latin typeface="MiSans"/>
                <a:ea typeface="MiSans"/>
              </a:rPr>
              <a:t>2026-08 · 数据来源为厂商公开 Datasheet（访问 2026-07-30）· 非真实工程项目</a:t>
            </a:r>
            <a:endParaRPr lang="en-US" sz="1100" noProof="1"/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2-kicker"/>
          <p:cNvSpPr txBox="1"/>
          <p:nvPr/>
        </p:nvSpPr>
        <p:spPr>
          <a:xfrm>
            <a:off x="508000" y="4318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01 · 结论先行</a:t>
            </a:r>
            <a:endParaRPr lang="en-US" sz="1200" noProof="1"/>
          </a:p>
        </p:txBody>
      </p:sp>
      <p:sp>
        <p:nvSpPr>
          <p:cNvPr id="3" name="c2-title"/>
          <p:cNvSpPr txBox="1"/>
          <p:nvPr/>
        </p:nvSpPr>
        <p:spPr>
          <a:xfrm>
            <a:off x="508000" y="7874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5000"/>
              </a:lnSpc>
            </a:pPr>
            <a:r>
              <a:rPr lang="en-US" sz="3000" noProof="1" b="1">
                <a:solidFill>
                  <a:srgbClr val="20302A"/>
                </a:solidFill>
                <a:latin typeface="MiSans"/>
                <a:ea typeface="MiSans"/>
              </a:rPr>
              <a:t>结论：推荐 B 平衡方案，容量比 1.11、屋顶面积仍有余量</a:t>
            </a:r>
            <a:endParaRPr lang="en-US" sz="3000" noProof="1"/>
          </a:p>
        </p:txBody>
      </p:sp>
      <p:sp>
        <p:nvSpPr>
          <p:cNvPr id="4" name="c2-rule-accent"/>
          <p:cNvSpPr/>
          <p:nvPr/>
        </p:nvSpPr>
        <p:spPr>
          <a:xfrm>
            <a:off x="508000" y="1447800"/>
            <a:ext cx="711200" cy="38100"/>
          </a:xfrm>
          <a:prstGeom prst="rect">
            <a:avLst/>
          </a:prstGeom>
          <a:solidFill>
            <a:srgbClr val="C97B2D"/>
          </a:solidFill>
          <a:ln>
            <a:noFill/>
          </a:ln>
        </p:spPr>
      </p:sp>
      <p:sp>
        <p:nvSpPr>
          <p:cNvPr id="5" name="c2-rule"/>
          <p:cNvSpPr/>
          <p:nvPr/>
        </p:nvSpPr>
        <p:spPr>
          <a:xfrm>
            <a:off x="508000" y="1485900"/>
            <a:ext cx="11176000" cy="127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sp>
        <p:nvSpPr>
          <p:cNvPr id="6" name="c2-statement"/>
          <p:cNvSpPr txBox="1"/>
          <p:nvPr/>
        </p:nvSpPr>
        <p:spPr>
          <a:xfrm>
            <a:off x="508000" y="1752600"/>
            <a:ext cx="11176000" cy="838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800" noProof="1">
                <a:solidFill>
                  <a:srgbClr val="20302A"/>
                </a:solidFill>
                <a:latin typeface="MiSans"/>
                <a:ea typeface="MiSans"/>
              </a:rPr>
              <a:t>在现有假设下，优先采用 </a:t>
            </a:r>
            <a:r>
              <a:rPr lang="en-US" sz="1800" noProof="1" b="1">
                <a:solidFill>
                  <a:srgbClr val="20302A"/>
                </a:solidFill>
                <a:latin typeface="MiSans"/>
                <a:ea typeface="MiSans"/>
              </a:rPr>
              <a:t>「Jinko JKM585N-72HL4-V + Sungrow SG110CX」</a:t>
            </a:r>
            <a:r>
              <a:rPr lang="en-US" sz="1800" noProof="1">
                <a:solidFill>
                  <a:srgbClr val="20302A"/>
                </a:solidFill>
                <a:latin typeface="MiSans"/>
                <a:ea typeface="MiSans"/>
              </a:rPr>
              <a:t>：</a:t>
            </a:r>
            <a:endParaRPr lang="en-US" sz="1800" noProof="1"/>
          </a:p>
          <a:p>
            <a:pPr>
              <a:lnSpc>
                <a:spcPct val="165000"/>
              </a:lnSpc>
            </a:pPr>
            <a:r>
              <a:rPr lang="en-US" sz="1800" noProof="1">
                <a:solidFill>
                  <a:srgbClr val="20302A"/>
                </a:solidFill>
                <a:latin typeface="MiSans"/>
                <a:ea typeface="MiSans"/>
              </a:rPr>
              <a:t>19 块/串 × 10 串 ≈ 111.2 kWp，接入 100 kW 交流侧。</a:t>
            </a:r>
            <a:endParaRPr lang="en-US" sz="1800" noProof="1"/>
          </a:p>
        </p:txBody>
      </p:sp>
      <p:sp>
        <p:nvSpPr>
          <p:cNvPr id="7" name="c2-num-1"/>
          <p:cNvSpPr txBox="1"/>
          <p:nvPr/>
        </p:nvSpPr>
        <p:spPr>
          <a:xfrm>
            <a:off x="762000" y="2946400"/>
            <a:ext cx="254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4200" noProof="1" b="1">
                <a:solidFill>
                  <a:srgbClr val="123B2F"/>
                </a:solidFill>
                <a:latin typeface="MiSans"/>
                <a:ea typeface="MiSans"/>
              </a:rPr>
              <a:t>111.2 kWp</a:t>
            </a:r>
            <a:endParaRPr lang="en-US" sz="4200" noProof="1"/>
          </a:p>
        </p:txBody>
      </p:sp>
      <p:sp>
        <p:nvSpPr>
          <p:cNvPr id="8" name="c2-num-2"/>
          <p:cNvSpPr txBox="1"/>
          <p:nvPr/>
        </p:nvSpPr>
        <p:spPr>
          <a:xfrm>
            <a:off x="3581400" y="2946400"/>
            <a:ext cx="2413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4200" noProof="1" b="1">
                <a:solidFill>
                  <a:srgbClr val="C97B2D"/>
                </a:solidFill>
                <a:latin typeface="MiSans"/>
                <a:ea typeface="MiSans"/>
              </a:rPr>
              <a:t>1.11</a:t>
            </a:r>
            <a:endParaRPr lang="en-US" sz="4200" noProof="1"/>
          </a:p>
        </p:txBody>
      </p:sp>
      <p:sp>
        <p:nvSpPr>
          <p:cNvPr id="9" name="c2-num-3"/>
          <p:cNvSpPr txBox="1"/>
          <p:nvPr/>
        </p:nvSpPr>
        <p:spPr>
          <a:xfrm>
            <a:off x="6400800" y="2946400"/>
            <a:ext cx="2413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4200" noProof="1" b="1">
                <a:solidFill>
                  <a:srgbClr val="123B2F"/>
                </a:solidFill>
                <a:latin typeface="MiSans"/>
                <a:ea typeface="MiSans"/>
              </a:rPr>
              <a:t>612.8 m²</a:t>
            </a:r>
            <a:endParaRPr lang="en-US" sz="4200" noProof="1"/>
          </a:p>
        </p:txBody>
      </p:sp>
      <p:sp>
        <p:nvSpPr>
          <p:cNvPr id="10" name="c2-num-4"/>
          <p:cNvSpPr txBox="1"/>
          <p:nvPr/>
        </p:nvSpPr>
        <p:spPr>
          <a:xfrm>
            <a:off x="9220200" y="2946400"/>
            <a:ext cx="2413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20000"/>
              </a:lnSpc>
            </a:pPr>
            <a:r>
              <a:rPr lang="en-US" sz="4200" noProof="1" b="1">
                <a:solidFill>
                  <a:srgbClr val="123B2F"/>
                </a:solidFill>
                <a:latin typeface="MiSans"/>
                <a:ea typeface="MiSans"/>
              </a:rPr>
              <a:t>19 × 10</a:t>
            </a:r>
            <a:endParaRPr lang="en-US" sz="4200" noProof="1"/>
          </a:p>
        </p:txBody>
      </p:sp>
      <p:sp>
        <p:nvSpPr>
          <p:cNvPr id="11" name="c2-lab-1"/>
          <p:cNvSpPr txBox="1"/>
          <p:nvPr/>
        </p:nvSpPr>
        <p:spPr>
          <a:xfrm>
            <a:off x="762000" y="381000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直流容量</a:t>
            </a:r>
            <a:endParaRPr lang="en-US" sz="1200" noProof="1"/>
          </a:p>
        </p:txBody>
      </p:sp>
      <p:sp>
        <p:nvSpPr>
          <p:cNvPr id="12" name="c2-lab-2"/>
          <p:cNvSpPr txBox="1"/>
          <p:nvPr/>
        </p:nvSpPr>
        <p:spPr>
          <a:xfrm>
            <a:off x="3581400" y="3810000"/>
            <a:ext cx="2413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容量比（DC/AC）</a:t>
            </a:r>
            <a:endParaRPr lang="en-US" sz="1200" noProof="1"/>
          </a:p>
        </p:txBody>
      </p:sp>
      <p:sp>
        <p:nvSpPr>
          <p:cNvPr id="13" name="c2-lab-3"/>
          <p:cNvSpPr txBox="1"/>
          <p:nvPr/>
        </p:nvSpPr>
        <p:spPr>
          <a:xfrm>
            <a:off x="6400800" y="3810000"/>
            <a:ext cx="2413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面积初核</a:t>
            </a:r>
            <a:endParaRPr lang="en-US" sz="1200" noProof="1"/>
          </a:p>
        </p:txBody>
      </p:sp>
      <p:sp>
        <p:nvSpPr>
          <p:cNvPr id="14" name="c2-lab-4"/>
          <p:cNvSpPr txBox="1"/>
          <p:nvPr/>
        </p:nvSpPr>
        <p:spPr>
          <a:xfrm>
            <a:off x="9220200" y="3810000"/>
            <a:ext cx="2413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组串结构</a:t>
            </a:r>
            <a:endParaRPr lang="en-US" sz="1200" noProof="1"/>
          </a:p>
        </p:txBody>
      </p:sp>
      <p:sp>
        <p:nvSpPr>
          <p:cNvPr id="15" name="c2-vline-1"/>
          <p:cNvSpPr/>
          <p:nvPr/>
        </p:nvSpPr>
        <p:spPr>
          <a:xfrm>
            <a:off x="3429000" y="2997200"/>
            <a:ext cx="12700" cy="7874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sp>
        <p:nvSpPr>
          <p:cNvPr id="16" name="c2-vline-2"/>
          <p:cNvSpPr/>
          <p:nvPr/>
        </p:nvSpPr>
        <p:spPr>
          <a:xfrm>
            <a:off x="6121400" y="2997200"/>
            <a:ext cx="12700" cy="7874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sp>
        <p:nvSpPr>
          <p:cNvPr id="17" name="c2-vline-3"/>
          <p:cNvSpPr/>
          <p:nvPr/>
        </p:nvSpPr>
        <p:spPr>
          <a:xfrm>
            <a:off x="8940800" y="2997200"/>
            <a:ext cx="12700" cy="7874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sp>
        <p:nvSpPr>
          <p:cNvPr id="18" name="c2-why"/>
          <p:cNvSpPr txBox="1"/>
          <p:nvPr/>
        </p:nvSpPr>
        <p:spPr>
          <a:xfrm>
            <a:off x="508000" y="4876800"/>
            <a:ext cx="111760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600" noProof="1" b="1">
                <a:solidFill>
                  <a:srgbClr val="20302A"/>
                </a:solidFill>
                <a:latin typeface="MiSans"/>
                <a:ea typeface="MiSans"/>
              </a:rPr>
              <a:t>为什么这样选：</a:t>
            </a:r>
            <a:r>
              <a:rPr lang="en-US" sz="1600" noProof="1">
                <a:solidFill>
                  <a:srgbClr val="20302A"/>
                </a:solidFill>
                <a:latin typeface="MiSans"/>
                <a:ea typeface="MiSans"/>
              </a:rPr>
              <a:t>先把「低温 Voc / 高温 Vmp / MPPT 电流」硬约束筛掉不合适的组合，</a:t>
            </a:r>
            <a:endParaRPr lang="en-US" sz="1600" noProof="1"/>
          </a:p>
          <a:p>
            <a:pPr>
              <a:lnSpc>
                <a:spcPct val="165000"/>
              </a:lnSpc>
            </a:pPr>
            <a:r>
              <a:rPr lang="en-US" sz="1600" noProof="1">
                <a:solidFill>
                  <a:srgbClr val="20302A"/>
                </a:solidFill>
                <a:latin typeface="MiSans"/>
                <a:ea typeface="MiSans"/>
              </a:rPr>
              <a:t>再比较屋顶面积与维护复杂度，最后才看容量比——不因为组件功率大或逆变器效率高就直接下结论。</a:t>
            </a:r>
            <a:endParaRPr lang="en-US" sz="1600" noProof="1"/>
          </a:p>
        </p:txBody>
      </p:sp>
      <p:sp>
        <p:nvSpPr>
          <p:cNvPr id="19" name="c2-note"/>
          <p:cNvSpPr txBox="1"/>
          <p:nvPr/>
        </p:nvSpPr>
        <p:spPr>
          <a:xfrm>
            <a:off x="508000" y="60452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100" noProof="1">
                <a:solidFill>
                  <a:srgbClr val="6B7A72"/>
                </a:solidFill>
                <a:latin typeface="MiSans"/>
                <a:ea typeface="MiSans"/>
              </a:rPr>
              <a:t>结论口径见 results/results_summary.md；这是方案级分析结论，不是最终施工设计。</a:t>
            </a:r>
            <a:endParaRPr lang="en-US" sz="1100" noProof="1"/>
          </a:p>
        </p:txBody>
      </p:sp>
      <p:sp>
        <p:nvSpPr>
          <p:cNvPr id="20" name="c2-footer"/>
          <p:cNvSpPr txBox="1"/>
          <p:nvPr/>
        </p:nvSpPr>
        <p:spPr>
          <a:xfrm>
            <a:off x="508000" y="6502400"/>
            <a:ext cx="6604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PV-100 · 100 kW 工商业屋顶光伏 · 个人方案分析（非真实工程）</a:t>
            </a:r>
            <a:endParaRPr lang="en-US" sz="1200" noProof="1"/>
          </a:p>
        </p:txBody>
      </p:sp>
      <p:sp>
        <p:nvSpPr>
          <p:cNvPr id="21" name="c2-page"/>
          <p:cNvSpPr txBox="1"/>
          <p:nvPr/>
        </p:nvSpPr>
        <p:spPr>
          <a:xfrm>
            <a:off x="10414000" y="65024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r"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02 / 11</a:t>
            </a:r>
            <a:endParaRPr lang="en-US" sz="1200" noProof="1"/>
          </a:p>
        </p:txBody>
      </p:sp>
    </p:spTree>
  </p:cSld>
  <p:clrMapOvr>
    <a:masterClrMapping/>
  </p:clrMapOvr>
  <p:transition spd="fast" advClick="1">
    <p:fade/>
  </p:transition>
</p:sld>
</file>

<file path=ppt/slides/slide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3-kicker"/>
          <p:cNvSpPr txBox="1"/>
          <p:nvPr/>
        </p:nvSpPr>
        <p:spPr>
          <a:xfrm>
            <a:off x="508000" y="4318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02 · 项目边界与假设</a:t>
            </a:r>
            <a:endParaRPr lang="en-US" sz="1200" noProof="1"/>
          </a:p>
        </p:txBody>
      </p:sp>
      <p:sp>
        <p:nvSpPr>
          <p:cNvPr id="3" name="c3-title"/>
          <p:cNvSpPr txBox="1"/>
          <p:nvPr/>
        </p:nvSpPr>
        <p:spPr>
          <a:xfrm>
            <a:off x="508000" y="7874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5000"/>
              </a:lnSpc>
            </a:pPr>
            <a:r>
              <a:rPr lang="en-US" sz="3000" noProof="1" b="1">
                <a:solidFill>
                  <a:srgbClr val="20302A"/>
                </a:solidFill>
                <a:latin typeface="MiSans"/>
                <a:ea typeface="MiSans"/>
              </a:rPr>
              <a:t>先把问题说清楚：一个假设的 800 m² 工商业屋顶</a:t>
            </a:r>
            <a:endParaRPr lang="en-US" sz="3000" noProof="1"/>
          </a:p>
        </p:txBody>
      </p:sp>
      <p:sp>
        <p:nvSpPr>
          <p:cNvPr id="4" name="c3-rule-accent"/>
          <p:cNvSpPr/>
          <p:nvPr/>
        </p:nvSpPr>
        <p:spPr>
          <a:xfrm>
            <a:off x="508000" y="1447800"/>
            <a:ext cx="711200" cy="38100"/>
          </a:xfrm>
          <a:prstGeom prst="rect">
            <a:avLst/>
          </a:prstGeom>
          <a:solidFill>
            <a:srgbClr val="C97B2D"/>
          </a:solidFill>
          <a:ln>
            <a:noFill/>
          </a:ln>
        </p:spPr>
      </p:sp>
      <p:sp>
        <p:nvSpPr>
          <p:cNvPr id="5" name="c3-rule"/>
          <p:cNvSpPr/>
          <p:nvPr/>
        </p:nvSpPr>
        <p:spPr>
          <a:xfrm>
            <a:off x="508000" y="1485900"/>
            <a:ext cx="11176000" cy="127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sp>
        <p:nvSpPr>
          <p:cNvPr id="6" name="c3-left-head"/>
          <p:cNvSpPr txBox="1"/>
          <p:nvPr/>
        </p:nvSpPr>
        <p:spPr>
          <a:xfrm>
            <a:off x="508000" y="18288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场景输入（冻结假设）</a:t>
            </a:r>
            <a:endParaRPr lang="en-US" sz="1200" noProof="1"/>
          </a:p>
        </p:txBody>
      </p:sp>
      <p:sp>
        <p:nvSpPr>
          <p:cNvPr id="7" name="c3-left"/>
          <p:cNvSpPr txBox="1"/>
          <p:nvPr/>
        </p:nvSpPr>
        <p:spPr>
          <a:xfrm>
            <a:off x="508000" y="2235200"/>
            <a:ext cx="5588000" cy="266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C97B2D"/>
                </a:solidFill>
                <a:latin typeface="MiSans"/>
                <a:ea typeface="MiSans"/>
              </a:rPr>
              <a:t>地点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　青岛 · 个人虚拟案例</a:t>
            </a:r>
            <a:endParaRPr lang="en-US" sz="1500" noProof="1"/>
          </a:p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C97B2D"/>
                </a:solidFill>
                <a:latin typeface="MiSans"/>
                <a:ea typeface="MiSans"/>
              </a:rPr>
              <a:t>屋顶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　800 m² 可用面积 · 彩钢瓦 / 平屋顶</a:t>
            </a:r>
            <a:endParaRPr lang="en-US" sz="1500" noProof="1"/>
          </a:p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C97B2D"/>
                </a:solidFill>
                <a:latin typeface="MiSans"/>
                <a:ea typeface="MiSans"/>
              </a:rPr>
              <a:t>交流侧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　100 kW · 380/400 V 三相并网</a:t>
            </a:r>
            <a:endParaRPr lang="en-US" sz="1500" noProof="1"/>
          </a:p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C97B2D"/>
                </a:solidFill>
                <a:latin typeface="MiSans"/>
                <a:ea typeface="MiSans"/>
              </a:rPr>
              <a:t>系统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　并网、无储能</a:t>
            </a:r>
            <a:endParaRPr lang="en-US" sz="1500" noProof="1"/>
          </a:p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C97B2D"/>
                </a:solidFill>
                <a:latin typeface="MiSans"/>
                <a:ea typeface="MiSans"/>
              </a:rPr>
              <a:t>温度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　-10 °C / 70 °C（课程假设，需复核）</a:t>
            </a:r>
            <a:endParaRPr lang="en-US" sz="1500" noProof="1"/>
          </a:p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C97B2D"/>
                </a:solidFill>
                <a:latin typeface="MiSans"/>
                <a:ea typeface="MiSans"/>
              </a:rPr>
              <a:t>面积系数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　净面积 × 1.25（含通道与检修余量）</a:t>
            </a:r>
            <a:endParaRPr lang="en-US" sz="1500" noProof="1"/>
          </a:p>
        </p:txBody>
      </p:sp>
      <p:sp>
        <p:nvSpPr>
          <p:cNvPr id="8" name="c3-right-head"/>
          <p:cNvSpPr txBox="1"/>
          <p:nvPr/>
        </p:nvSpPr>
        <p:spPr>
          <a:xfrm>
            <a:off x="6350000" y="18288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范围边界</a:t>
            </a:r>
            <a:endParaRPr lang="en-US" sz="1200" noProof="1"/>
          </a:p>
        </p:txBody>
      </p:sp>
      <p:sp>
        <p:nvSpPr>
          <p:cNvPr id="9" name="c3-include"/>
          <p:cNvSpPr txBox="1"/>
          <p:nvPr/>
        </p:nvSpPr>
        <p:spPr>
          <a:xfrm>
            <a:off x="6350000" y="2260600"/>
            <a:ext cx="5334000" cy="139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400" noProof="1" b="1">
                <a:solidFill>
                  <a:srgbClr val="20302A"/>
                </a:solidFill>
                <a:latin typeface="MiSans"/>
                <a:ea typeface="MiSans"/>
              </a:rPr>
              <a:t>包含</a:t>
            </a:r>
            <a:endParaRPr lang="en-US" sz="1400" noProof="1"/>
          </a:p>
          <a:p>
            <a:pPr>
              <a:lnSpc>
                <a:spcPct val="165000"/>
              </a:lnSpc>
            </a:pPr>
            <a:r>
              <a:rPr lang="en-US" sz="1400" noProof="1">
                <a:solidFill>
                  <a:srgbClr val="20302A"/>
                </a:solidFill>
                <a:latin typeface="MiSans"/>
                <a:ea typeface="MiSans"/>
              </a:rPr>
              <a:t>设备公开参数整理 · 组串 / MPPT 分配 · 直流容量与容量比 · 面积初核 · 三套方案比较</a:t>
            </a:r>
            <a:endParaRPr lang="en-US" sz="1400" noProof="1"/>
          </a:p>
        </p:txBody>
      </p:sp>
      <p:sp>
        <p:nvSpPr>
          <p:cNvPr id="10" name="c3-exclude"/>
          <p:cNvSpPr txBox="1"/>
          <p:nvPr/>
        </p:nvSpPr>
        <p:spPr>
          <a:xfrm>
            <a:off x="6350000" y="3708400"/>
            <a:ext cx="5334000" cy="139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400" noProof="1" b="1">
                <a:solidFill>
                  <a:srgbClr val="A9502C"/>
                </a:solidFill>
                <a:latin typeface="MiSans"/>
                <a:ea typeface="MiSans"/>
              </a:rPr>
              <a:t>不包含</a:t>
            </a:r>
            <a:endParaRPr lang="en-US" sz="1400" noProof="1"/>
          </a:p>
          <a:p>
            <a:pPr>
              <a:lnSpc>
                <a:spcPct val="165000"/>
              </a:lnSpc>
            </a:pPr>
            <a:r>
              <a:rPr lang="en-US" sz="1400" noProof="1">
                <a:solidFill>
                  <a:srgbClr val="20302A"/>
                </a:solidFill>
                <a:latin typeface="MiSans"/>
                <a:ea typeface="MiSans"/>
              </a:rPr>
              <a:t>结构承载 · 施工排布图 · 线缆截面 · 保护整定与防雷接地 · 并网审批 · 报价与收益承诺</a:t>
            </a:r>
            <a:endParaRPr lang="en-US" sz="1400" noProof="1"/>
          </a:p>
        </p:txBody>
      </p:sp>
      <p:sp>
        <p:nvSpPr>
          <p:cNvPr id="11" name="c3-flow-1"/>
          <p:cNvSpPr/>
          <p:nvPr/>
        </p:nvSpPr>
        <p:spPr>
          <a:xfrm>
            <a:off x="508000" y="5270500"/>
            <a:ext cx="177800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C0AA"/>
            </a:solidFill>
          </a:ln>
        </p:spPr>
      </p:sp>
      <p:sp>
        <p:nvSpPr>
          <p:cNvPr id="12" name="c3-flow-2"/>
          <p:cNvSpPr/>
          <p:nvPr/>
        </p:nvSpPr>
        <p:spPr>
          <a:xfrm>
            <a:off x="2857500" y="5270500"/>
            <a:ext cx="177800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C0AA"/>
            </a:solidFill>
          </a:ln>
        </p:spPr>
      </p:sp>
      <p:sp>
        <p:nvSpPr>
          <p:cNvPr id="13" name="c3-flow-3"/>
          <p:cNvSpPr/>
          <p:nvPr/>
        </p:nvSpPr>
        <p:spPr>
          <a:xfrm>
            <a:off x="5207000" y="5270500"/>
            <a:ext cx="177800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C0AA"/>
            </a:solidFill>
          </a:ln>
        </p:spPr>
      </p:sp>
      <p:sp>
        <p:nvSpPr>
          <p:cNvPr id="14" name="c3-flow-4"/>
          <p:cNvSpPr/>
          <p:nvPr/>
        </p:nvSpPr>
        <p:spPr>
          <a:xfrm>
            <a:off x="7556500" y="5270500"/>
            <a:ext cx="177800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C0AA"/>
            </a:solidFill>
          </a:ln>
        </p:spPr>
      </p:sp>
      <p:sp>
        <p:nvSpPr>
          <p:cNvPr id="15" name="c3-flow-5"/>
          <p:cNvSpPr/>
          <p:nvPr/>
        </p:nvSpPr>
        <p:spPr>
          <a:xfrm>
            <a:off x="9906000" y="5270500"/>
            <a:ext cx="177800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C0AA"/>
            </a:solidFill>
          </a:ln>
        </p:spPr>
      </p:sp>
      <p:sp>
        <p:nvSpPr>
          <p:cNvPr id="16" name="c3-arrow-1"/>
          <p:cNvSpPr/>
          <p:nvPr>
            <p:extLst>
              <p:ext uri="{F5677B7D-0D2A-4D9B-9A5C-6D8D7D0E5A5D}">
                <pptd:line encoding="base64url">eyJ2aWV3Qm94IjpbNDMsMTZdLCJwb2ludHMiOiIwLDggNDMsOCJ9</pptd:line>
              </p:ext>
            </p:extLst>
          </p:nvPr>
        </p:nvSpPr>
        <p:spPr>
          <a:xfrm>
            <a:off x="2311400" y="5537200"/>
            <a:ext cx="546100" cy="203200"/>
          </a:xfrm>
          <a:custGeom>
            <a:avLst/>
            <a:gdLst/>
            <a:ahLst/>
            <a:cxnLst/>
            <a:rect l="l" t="t" r="r" b="b"/>
            <a:pathLst>
              <a:path w="43" h="16">
                <a:moveTo>
                  <a:pt x="0" y="8"/>
                </a:moveTo>
                <a:lnTo>
                  <a:pt x="43" y="8"/>
                </a:lnTo>
              </a:path>
            </a:pathLst>
          </a:custGeom>
          <a:noFill/>
          <a:ln w="25400" cap="rnd">
            <a:solidFill>
              <a:srgbClr val="C97B2D"/>
            </a:solidFill>
            <a:round/>
            <a:tailEnd type="stealth"/>
          </a:ln>
        </p:spPr>
      </p:sp>
      <p:sp>
        <p:nvSpPr>
          <p:cNvPr id="17" name="c3-arrow-2"/>
          <p:cNvSpPr/>
          <p:nvPr>
            <p:extLst>
              <p:ext uri="{F5677B7D-0D2A-4D9B-9A5C-6D8D7D0E5A5D}">
                <pptd:line encoding="base64url">eyJ2aWV3Qm94IjpbNDMsMTZdLCJwb2ludHMiOiIwLDggNDMsOCJ9</pptd:line>
              </p:ext>
            </p:extLst>
          </p:nvPr>
        </p:nvSpPr>
        <p:spPr>
          <a:xfrm>
            <a:off x="4660900" y="5537200"/>
            <a:ext cx="546100" cy="203200"/>
          </a:xfrm>
          <a:custGeom>
            <a:avLst/>
            <a:gdLst/>
            <a:ahLst/>
            <a:cxnLst/>
            <a:rect l="l" t="t" r="r" b="b"/>
            <a:pathLst>
              <a:path w="43" h="16">
                <a:moveTo>
                  <a:pt x="0" y="8"/>
                </a:moveTo>
                <a:lnTo>
                  <a:pt x="43" y="8"/>
                </a:lnTo>
              </a:path>
            </a:pathLst>
          </a:custGeom>
          <a:noFill/>
          <a:ln w="25400" cap="rnd">
            <a:solidFill>
              <a:srgbClr val="C97B2D"/>
            </a:solidFill>
            <a:round/>
            <a:tailEnd type="stealth"/>
          </a:ln>
        </p:spPr>
      </p:sp>
      <p:sp>
        <p:nvSpPr>
          <p:cNvPr id="18" name="c3-arrow-3"/>
          <p:cNvSpPr/>
          <p:nvPr>
            <p:extLst>
              <p:ext uri="{F5677B7D-0D2A-4D9B-9A5C-6D8D7D0E5A5D}">
                <pptd:line encoding="base64url">eyJ2aWV3Qm94IjpbNDMsMTZdLCJwb2ludHMiOiIwLDggNDMsOCJ9</pptd:line>
              </p:ext>
            </p:extLst>
          </p:nvPr>
        </p:nvSpPr>
        <p:spPr>
          <a:xfrm>
            <a:off x="7010400" y="5537200"/>
            <a:ext cx="546100" cy="203200"/>
          </a:xfrm>
          <a:custGeom>
            <a:avLst/>
            <a:gdLst/>
            <a:ahLst/>
            <a:cxnLst/>
            <a:rect l="l" t="t" r="r" b="b"/>
            <a:pathLst>
              <a:path w="43" h="16">
                <a:moveTo>
                  <a:pt x="0" y="8"/>
                </a:moveTo>
                <a:lnTo>
                  <a:pt x="43" y="8"/>
                </a:lnTo>
              </a:path>
            </a:pathLst>
          </a:custGeom>
          <a:noFill/>
          <a:ln w="25400" cap="rnd">
            <a:solidFill>
              <a:srgbClr val="C97B2D"/>
            </a:solidFill>
            <a:round/>
            <a:tailEnd type="stealth"/>
          </a:ln>
        </p:spPr>
      </p:sp>
      <p:sp>
        <p:nvSpPr>
          <p:cNvPr id="19" name="c3-arrow-4"/>
          <p:cNvSpPr/>
          <p:nvPr>
            <p:extLst>
              <p:ext uri="{F5677B7D-0D2A-4D9B-9A5C-6D8D7D0E5A5D}">
                <pptd:line encoding="base64url">eyJ2aWV3Qm94IjpbNDMsMTZdLCJwb2ludHMiOiIwLDggNDMsOCJ9</pptd:line>
              </p:ext>
            </p:extLst>
          </p:nvPr>
        </p:nvSpPr>
        <p:spPr>
          <a:xfrm>
            <a:off x="9359900" y="5537200"/>
            <a:ext cx="546100" cy="203200"/>
          </a:xfrm>
          <a:custGeom>
            <a:avLst/>
            <a:gdLst/>
            <a:ahLst/>
            <a:cxnLst/>
            <a:rect l="l" t="t" r="r" b="b"/>
            <a:pathLst>
              <a:path w="43" h="16">
                <a:moveTo>
                  <a:pt x="0" y="8"/>
                </a:moveTo>
                <a:lnTo>
                  <a:pt x="43" y="8"/>
                </a:lnTo>
              </a:path>
            </a:pathLst>
          </a:custGeom>
          <a:noFill/>
          <a:ln w="25400" cap="rnd">
            <a:solidFill>
              <a:srgbClr val="C97B2D"/>
            </a:solidFill>
            <a:round/>
            <a:tailEnd type="stealth"/>
          </a:ln>
        </p:spPr>
      </p:sp>
      <p:sp>
        <p:nvSpPr>
          <p:cNvPr id="20" name="c3-node-1"/>
          <p:cNvSpPr txBox="1"/>
          <p:nvPr/>
        </p:nvSpPr>
        <p:spPr>
          <a:xfrm>
            <a:off x="571500" y="5486400"/>
            <a:ext cx="1651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65000"/>
              </a:lnSpc>
            </a:pPr>
            <a:r>
              <a:rPr lang="en-US" sz="1300" noProof="1">
                <a:solidFill>
                  <a:srgbClr val="20302A"/>
                </a:solidFill>
                <a:latin typeface="MiSans"/>
                <a:ea typeface="MiSans"/>
              </a:rPr>
              <a:t>屋顶 800 m²</a:t>
            </a:r>
            <a:endParaRPr lang="en-US" sz="1300" noProof="1"/>
          </a:p>
        </p:txBody>
      </p:sp>
      <p:sp>
        <p:nvSpPr>
          <p:cNvPr id="21" name="c3-node-2"/>
          <p:cNvSpPr txBox="1"/>
          <p:nvPr/>
        </p:nvSpPr>
        <p:spPr>
          <a:xfrm>
            <a:off x="2921000" y="5486400"/>
            <a:ext cx="1651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65000"/>
              </a:lnSpc>
            </a:pPr>
            <a:r>
              <a:rPr lang="en-US" sz="1300" noProof="1">
                <a:solidFill>
                  <a:srgbClr val="20302A"/>
                </a:solidFill>
                <a:latin typeface="MiSans"/>
                <a:ea typeface="MiSans"/>
              </a:rPr>
              <a:t>组件 585 W</a:t>
            </a:r>
            <a:endParaRPr lang="en-US" sz="1300" noProof="1"/>
          </a:p>
        </p:txBody>
      </p:sp>
      <p:sp>
        <p:nvSpPr>
          <p:cNvPr id="22" name="c3-node-3"/>
          <p:cNvSpPr txBox="1"/>
          <p:nvPr/>
        </p:nvSpPr>
        <p:spPr>
          <a:xfrm>
            <a:off x="5270500" y="5486400"/>
            <a:ext cx="1651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65000"/>
              </a:lnSpc>
            </a:pPr>
            <a:r>
              <a:rPr lang="en-US" sz="1300" noProof="1">
                <a:solidFill>
                  <a:srgbClr val="20302A"/>
                </a:solidFill>
                <a:latin typeface="MiSans"/>
                <a:ea typeface="MiSans"/>
              </a:rPr>
              <a:t>组串 19 块/串</a:t>
            </a:r>
            <a:endParaRPr lang="en-US" sz="1300" noProof="1"/>
          </a:p>
        </p:txBody>
      </p:sp>
      <p:sp>
        <p:nvSpPr>
          <p:cNvPr id="23" name="c3-node-4"/>
          <p:cNvSpPr txBox="1"/>
          <p:nvPr/>
        </p:nvSpPr>
        <p:spPr>
          <a:xfrm>
            <a:off x="7620000" y="5486400"/>
            <a:ext cx="1651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65000"/>
              </a:lnSpc>
            </a:pPr>
            <a:r>
              <a:rPr lang="en-US" sz="1300" noProof="1">
                <a:solidFill>
                  <a:srgbClr val="20302A"/>
                </a:solidFill>
                <a:latin typeface="MiSans"/>
                <a:ea typeface="MiSans"/>
              </a:rPr>
              <a:t>逆变器 SG110CX</a:t>
            </a:r>
            <a:endParaRPr lang="en-US" sz="1300" noProof="1"/>
          </a:p>
        </p:txBody>
      </p:sp>
      <p:sp>
        <p:nvSpPr>
          <p:cNvPr id="24" name="c3-node-5"/>
          <p:cNvSpPr txBox="1"/>
          <p:nvPr/>
        </p:nvSpPr>
        <p:spPr>
          <a:xfrm>
            <a:off x="9969500" y="5486400"/>
            <a:ext cx="1651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65000"/>
              </a:lnSpc>
            </a:pPr>
            <a:r>
              <a:rPr lang="en-US" sz="1300" noProof="1">
                <a:solidFill>
                  <a:srgbClr val="20302A"/>
                </a:solidFill>
                <a:latin typeface="MiSans"/>
                <a:ea typeface="MiSans"/>
              </a:rPr>
              <a:t>并网点 380/400 V</a:t>
            </a:r>
            <a:endParaRPr lang="en-US" sz="1300" noProof="1"/>
          </a:p>
        </p:txBody>
      </p:sp>
      <p:sp>
        <p:nvSpPr>
          <p:cNvPr id="25" name="c3-footer"/>
          <p:cNvSpPr txBox="1"/>
          <p:nvPr/>
        </p:nvSpPr>
        <p:spPr>
          <a:xfrm>
            <a:off x="508000" y="6502400"/>
            <a:ext cx="6604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PV-100 · 100 kW 工商业屋顶光伏 · 个人方案分析（非真实工程）</a:t>
            </a:r>
            <a:endParaRPr lang="en-US" sz="1200" noProof="1"/>
          </a:p>
        </p:txBody>
      </p:sp>
      <p:sp>
        <p:nvSpPr>
          <p:cNvPr id="26" name="c3-page"/>
          <p:cNvSpPr txBox="1"/>
          <p:nvPr/>
        </p:nvSpPr>
        <p:spPr>
          <a:xfrm>
            <a:off x="10414000" y="65024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r"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03 / 11</a:t>
            </a:r>
            <a:endParaRPr lang="en-US" sz="1200" noProof="1"/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4-kicker"/>
          <p:cNvSpPr txBox="1"/>
          <p:nvPr/>
        </p:nvSpPr>
        <p:spPr>
          <a:xfrm>
            <a:off x="508000" y="4318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03 · 设备选型 —— 组件</a:t>
            </a:r>
            <a:endParaRPr lang="en-US" sz="1200" noProof="1"/>
          </a:p>
        </p:txBody>
      </p:sp>
      <p:sp>
        <p:nvSpPr>
          <p:cNvPr id="3" name="c4-title"/>
          <p:cNvSpPr txBox="1"/>
          <p:nvPr/>
        </p:nvSpPr>
        <p:spPr>
          <a:xfrm>
            <a:off x="508000" y="7874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5000"/>
              </a:lnSpc>
            </a:pPr>
            <a:r>
              <a:rPr lang="en-US" sz="3000" noProof="1" b="1">
                <a:solidFill>
                  <a:srgbClr val="20302A"/>
                </a:solidFill>
                <a:latin typeface="MiSans"/>
                <a:ea typeface="MiSans"/>
              </a:rPr>
              <a:t>组件样本：同一量级，但电压与电流特性不同</a:t>
            </a:r>
            <a:endParaRPr lang="en-US" sz="3000" noProof="1"/>
          </a:p>
        </p:txBody>
      </p:sp>
      <p:sp>
        <p:nvSpPr>
          <p:cNvPr id="4" name="c4-rule-accent"/>
          <p:cNvSpPr/>
          <p:nvPr/>
        </p:nvSpPr>
        <p:spPr>
          <a:xfrm>
            <a:off x="508000" y="1447800"/>
            <a:ext cx="711200" cy="38100"/>
          </a:xfrm>
          <a:prstGeom prst="rect">
            <a:avLst/>
          </a:prstGeom>
          <a:solidFill>
            <a:srgbClr val="C97B2D"/>
          </a:solidFill>
          <a:ln>
            <a:noFill/>
          </a:ln>
        </p:spPr>
      </p:sp>
      <p:sp>
        <p:nvSpPr>
          <p:cNvPr id="5" name="c4-rule"/>
          <p:cNvSpPr/>
          <p:nvPr/>
        </p:nvSpPr>
        <p:spPr>
          <a:xfrm>
            <a:off x="508000" y="1485900"/>
            <a:ext cx="11176000" cy="127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graphicFrame>
        <p:nvGraphicFramePr>
          <p:cNvPr id="6" name="c4-table"/>
          <p:cNvGraphicFramePr>
            <a:graphicFrameLocks noGrp="1"/>
          </p:cNvGraphicFramePr>
          <p:nvPr/>
        </p:nvGraphicFramePr>
        <p:xfrm>
          <a:off x="508000" y="1879600"/>
          <a:ext cx="11176000" cy="3175000"/>
        </p:xfrm>
        <a:graphic>
          <a:graphicData uri="http://schemas.openxmlformats.org/drawingml/2006/table">
            <a:tbl>
              <a:tblPr/>
              <a:tblGrid>
                <a:gridCol w="2458720"/>
                <a:gridCol w="4358640"/>
                <a:gridCol w="4358640"/>
              </a:tblGrid>
              <a:tr h="5715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参数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123B2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Jinko JKM585N-72HL4-V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123B2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Trina TSM-580DE19R.W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123B2F"/>
                    </a:solidFill>
                  </a:tcPr>
                </a:tc>
              </a:tr>
              <a:tr h="5207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额定功率 Pmax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0EBDD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585 W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580 W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07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工作电压 Vmp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0EBDD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43.53 V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EFEAE0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39.0 V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EFEAE0"/>
                    </a:solidFill>
                  </a:tcPr>
                </a:tc>
              </a:tr>
              <a:tr h="5207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开路电压 Voc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0EBDD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52.47 V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46.3 V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07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工作电流 Imp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0EBDD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13.44 A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EFEAE0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14.86 A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EFEAE0"/>
                    </a:solidFill>
                  </a:tcPr>
                </a:tc>
              </a:tr>
              <a:tr h="5207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短路电流 Isc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0EBDD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14.07 A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15.94 A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4-conclusion"/>
          <p:cNvSpPr txBox="1"/>
          <p:nvPr/>
        </p:nvSpPr>
        <p:spPr>
          <a:xfrm>
            <a:off x="508000" y="5308600"/>
            <a:ext cx="11176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20302A"/>
                </a:solidFill>
                <a:latin typeface="MiSans"/>
                <a:ea typeface="MiSans"/>
              </a:rPr>
              <a:t>差异点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：Jinko 工作电压更高，组串电压更易落在 MPPT 工作区间；</a:t>
            </a:r>
            <a:endParaRPr lang="en-US" sz="1500" noProof="1"/>
          </a:p>
          <a:p>
            <a:pPr>
              <a:lnSpc>
                <a:spcPct val="165000"/>
              </a:lnSpc>
            </a:pP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Trina 电流更大，若 MPPT 采用两路并联，需要重点关注输入电流余量。</a:t>
            </a:r>
            <a:endParaRPr lang="en-US" sz="1500" noProof="1"/>
          </a:p>
        </p:txBody>
      </p:sp>
      <p:sp>
        <p:nvSpPr>
          <p:cNvPr id="8" name="c4-note"/>
          <p:cNvSpPr txBox="1"/>
          <p:nvPr/>
        </p:nvSpPr>
        <p:spPr>
          <a:xfrm>
            <a:off x="508000" y="61722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100" noProof="1">
                <a:solidFill>
                  <a:srgbClr val="6B7A72"/>
                </a:solidFill>
                <a:latin typeface="MiSans"/>
                <a:ea typeface="MiSans"/>
              </a:rPr>
              <a:t>来源：</a:t>
            </a:r>
            <a:r>
              <a:rPr lang="en-US" sz="1100" noProof="1" u="sng">
                <a:solidFill>
                  <a:srgbClr val="0563C1"/>
                </a:solidFill>
                <a:latin typeface="MiSans"/>
                <a:ea typeface="MiSans"/>
                <a:hlinkClick r:id="rId3"/>
              </a:rPr>
              <a:t>Jinko Tiger Neo Datasheet</a:t>
            </a:r>
            <a:r>
              <a:rPr lang="en-US" sz="1100" noProof="1">
                <a:solidFill>
                  <a:srgbClr val="6B7A72"/>
                </a:solidFill>
                <a:latin typeface="MiSans"/>
                <a:ea typeface="MiSans"/>
              </a:rPr>
              <a:t>、</a:t>
            </a:r>
            <a:r>
              <a:rPr lang="en-US" sz="1100" noProof="1" u="sng">
                <a:solidFill>
                  <a:srgbClr val="0563C1"/>
                </a:solidFill>
                <a:latin typeface="MiSans"/>
                <a:ea typeface="MiSans"/>
                <a:hlinkClick r:id="rId4"/>
              </a:rPr>
              <a:t>Trina Vertex Datasheet</a:t>
            </a:r>
            <a:r>
              <a:rPr lang="en-US" sz="1100" noProof="1">
                <a:solidFill>
                  <a:srgbClr val="6B7A72"/>
                </a:solidFill>
                <a:latin typeface="MiSans"/>
                <a:ea typeface="MiSans"/>
              </a:rPr>
              <a:t>（访问 2026-07-30，登记于 references/source_register.md）。</a:t>
            </a:r>
            <a:endParaRPr lang="en-US" sz="1100" noProof="1"/>
          </a:p>
        </p:txBody>
      </p:sp>
      <p:sp>
        <p:nvSpPr>
          <p:cNvPr id="9" name="c4-footer"/>
          <p:cNvSpPr txBox="1"/>
          <p:nvPr/>
        </p:nvSpPr>
        <p:spPr>
          <a:xfrm>
            <a:off x="508000" y="6502400"/>
            <a:ext cx="6604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PV-100 · 100 kW 工商业屋顶光伏 · 个人方案分析（非真实工程）</a:t>
            </a:r>
            <a:endParaRPr lang="en-US" sz="1200" noProof="1"/>
          </a:p>
        </p:txBody>
      </p:sp>
      <p:sp>
        <p:nvSpPr>
          <p:cNvPr id="10" name="c4-page"/>
          <p:cNvSpPr txBox="1"/>
          <p:nvPr/>
        </p:nvSpPr>
        <p:spPr>
          <a:xfrm>
            <a:off x="10414000" y="65024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r"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04 / 11</a:t>
            </a:r>
            <a:endParaRPr lang="en-US" sz="1200" noProof="1"/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5-kicker"/>
          <p:cNvSpPr txBox="1"/>
          <p:nvPr/>
        </p:nvSpPr>
        <p:spPr>
          <a:xfrm>
            <a:off x="508000" y="4318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04 · 设备选型 —— 逆变器</a:t>
            </a:r>
            <a:endParaRPr lang="en-US" sz="1200" noProof="1"/>
          </a:p>
        </p:txBody>
      </p:sp>
      <p:sp>
        <p:nvSpPr>
          <p:cNvPr id="3" name="c5-title"/>
          <p:cNvSpPr txBox="1"/>
          <p:nvPr/>
        </p:nvSpPr>
        <p:spPr>
          <a:xfrm>
            <a:off x="508000" y="7874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5000"/>
              </a:lnSpc>
            </a:pPr>
            <a:r>
              <a:rPr lang="en-US" sz="3000" noProof="1" b="1">
                <a:solidFill>
                  <a:srgbClr val="20302A"/>
                </a:solidFill>
                <a:latin typeface="MiSans"/>
                <a:ea typeface="MiSans"/>
              </a:rPr>
              <a:t>逆变器样本：都覆盖 100 kW，差异在 MPPT 电流与路数</a:t>
            </a:r>
            <a:endParaRPr lang="en-US" sz="3000" noProof="1"/>
          </a:p>
        </p:txBody>
      </p:sp>
      <p:sp>
        <p:nvSpPr>
          <p:cNvPr id="4" name="c5-rule-accent"/>
          <p:cNvSpPr/>
          <p:nvPr/>
        </p:nvSpPr>
        <p:spPr>
          <a:xfrm>
            <a:off x="508000" y="1447800"/>
            <a:ext cx="711200" cy="38100"/>
          </a:xfrm>
          <a:prstGeom prst="rect">
            <a:avLst/>
          </a:prstGeom>
          <a:solidFill>
            <a:srgbClr val="C97B2D"/>
          </a:solidFill>
          <a:ln>
            <a:noFill/>
          </a:ln>
        </p:spPr>
      </p:sp>
      <p:sp>
        <p:nvSpPr>
          <p:cNvPr id="5" name="c5-rule"/>
          <p:cNvSpPr/>
          <p:nvPr/>
        </p:nvSpPr>
        <p:spPr>
          <a:xfrm>
            <a:off x="508000" y="1485900"/>
            <a:ext cx="11176000" cy="127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graphicFrame>
        <p:nvGraphicFramePr>
          <p:cNvPr id="6" name="c5-table"/>
          <p:cNvGraphicFramePr>
            <a:graphicFrameLocks noGrp="1"/>
          </p:cNvGraphicFramePr>
          <p:nvPr/>
        </p:nvGraphicFramePr>
        <p:xfrm>
          <a:off x="508000" y="1879600"/>
          <a:ext cx="11176000" cy="3175000"/>
        </p:xfrm>
        <a:graphic>
          <a:graphicData uri="http://schemas.openxmlformats.org/drawingml/2006/table">
            <a:tbl>
              <a:tblPr/>
              <a:tblGrid>
                <a:gridCol w="2682240"/>
                <a:gridCol w="4246880"/>
                <a:gridCol w="4246880"/>
              </a:tblGrid>
              <a:tr h="5080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参数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123B2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Sungrow SG110CX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123B2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Huawei SUN2000-100KTL-M2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123B2F"/>
                    </a:solidFill>
                  </a:tcPr>
                </a:tc>
              </a:tr>
              <a:tr h="4445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最大直流电压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0EBDD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1100 V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1100 V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MPPT 电压范围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0EBDD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200–1000 V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EFEAE0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200–1000 V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EFEAE0"/>
                    </a:solidFill>
                  </a:tcPr>
                </a:tc>
              </a:tr>
              <a:tr h="4445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MPPT 路数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0EBDD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9 路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10 路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每路最大输入电流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0EBDD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26 A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EFEAE0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30 A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EFEAE0"/>
                    </a:solidFill>
                  </a:tcPr>
                </a:tc>
              </a:tr>
              <a:tr h="4445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每路短路电流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0EBDD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40 A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40 A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最大效率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0EBDD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98.7%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EFEAE0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98.6%–98.8%（随交流电压条件变化）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EFEAE0"/>
                    </a:solidFill>
                  </a:tcPr>
                </a:tc>
              </a:tr>
            </a:tbl>
          </a:graphicData>
        </a:graphic>
      </p:graphicFrame>
      <p:sp>
        <p:nvSpPr>
          <p:cNvPr id="7" name="c5-conclusion"/>
          <p:cNvSpPr txBox="1"/>
          <p:nvPr/>
        </p:nvSpPr>
        <p:spPr>
          <a:xfrm>
            <a:off x="508000" y="5308600"/>
            <a:ext cx="11176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20302A"/>
                </a:solidFill>
                <a:latin typeface="MiSans"/>
                <a:ea typeface="MiSans"/>
              </a:rPr>
              <a:t>判断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：两者都能满足本项目 100 kW 级场景；最终选择不只看效率，</a:t>
            </a:r>
            <a:endParaRPr lang="en-US" sz="1500" noProof="1"/>
          </a:p>
          <a:p>
            <a:pPr>
              <a:lnSpc>
                <a:spcPct val="165000"/>
              </a:lnSpc>
            </a:pP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还要看现场维护习惯、通讯平台、输入电流限制与采购可得性。</a:t>
            </a:r>
            <a:endParaRPr lang="en-US" sz="1500" noProof="1"/>
          </a:p>
        </p:txBody>
      </p:sp>
      <p:sp>
        <p:nvSpPr>
          <p:cNvPr id="8" name="c5-note"/>
          <p:cNvSpPr txBox="1"/>
          <p:nvPr/>
        </p:nvSpPr>
        <p:spPr>
          <a:xfrm>
            <a:off x="508000" y="61722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100" noProof="1">
                <a:solidFill>
                  <a:srgbClr val="6B7A72"/>
                </a:solidFill>
                <a:latin typeface="MiSans"/>
                <a:ea typeface="MiSans"/>
              </a:rPr>
              <a:t>来源：</a:t>
            </a:r>
            <a:r>
              <a:rPr lang="en-US" sz="1100" noProof="1" u="sng">
                <a:solidFill>
                  <a:srgbClr val="0563C1"/>
                </a:solidFill>
                <a:latin typeface="MiSans"/>
                <a:ea typeface="MiSans"/>
                <a:hlinkClick r:id="rId3"/>
              </a:rPr>
              <a:t>Sungrow SG110CX Datasheet</a:t>
            </a:r>
            <a:r>
              <a:rPr lang="en-US" sz="1100" noProof="1">
                <a:solidFill>
                  <a:srgbClr val="6B7A72"/>
                </a:solidFill>
                <a:latin typeface="MiSans"/>
                <a:ea typeface="MiSans"/>
              </a:rPr>
              <a:t>、</a:t>
            </a:r>
            <a:r>
              <a:rPr lang="en-US" sz="1100" noProof="1" u="sng">
                <a:solidFill>
                  <a:srgbClr val="0563C1"/>
                </a:solidFill>
                <a:latin typeface="MiSans"/>
                <a:ea typeface="MiSans"/>
                <a:hlinkClick r:id="rId4"/>
              </a:rPr>
              <a:t>Huawei SUN2000-100KTL-M2 Datasheet</a:t>
            </a:r>
            <a:r>
              <a:rPr lang="en-US" sz="1100" noProof="1">
                <a:solidFill>
                  <a:srgbClr val="6B7A72"/>
                </a:solidFill>
                <a:latin typeface="MiSans"/>
                <a:ea typeface="MiSans"/>
              </a:rPr>
              <a:t>（访问 2026-07-30）。</a:t>
            </a:r>
            <a:endParaRPr lang="en-US" sz="1100" noProof="1"/>
          </a:p>
        </p:txBody>
      </p:sp>
      <p:sp>
        <p:nvSpPr>
          <p:cNvPr id="9" name="c5-footer"/>
          <p:cNvSpPr txBox="1"/>
          <p:nvPr/>
        </p:nvSpPr>
        <p:spPr>
          <a:xfrm>
            <a:off x="508000" y="6502400"/>
            <a:ext cx="6604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PV-100 · 100 kW 工商业屋顶光伏 · 个人方案分析（非真实工程）</a:t>
            </a:r>
            <a:endParaRPr lang="en-US" sz="1200" noProof="1"/>
          </a:p>
        </p:txBody>
      </p:sp>
      <p:sp>
        <p:nvSpPr>
          <p:cNvPr id="10" name="c5-page"/>
          <p:cNvSpPr txBox="1"/>
          <p:nvPr/>
        </p:nvSpPr>
        <p:spPr>
          <a:xfrm>
            <a:off x="10414000" y="65024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r"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05 / 11</a:t>
            </a:r>
            <a:endParaRPr lang="en-US" sz="1200" noProof="1"/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6-kicker"/>
          <p:cNvSpPr txBox="1"/>
          <p:nvPr/>
        </p:nvSpPr>
        <p:spPr>
          <a:xfrm>
            <a:off x="508000" y="4318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05 · 组串校核方法</a:t>
            </a:r>
            <a:endParaRPr lang="en-US" sz="1200" noProof="1"/>
          </a:p>
        </p:txBody>
      </p:sp>
      <p:sp>
        <p:nvSpPr>
          <p:cNvPr id="3" name="c6-title"/>
          <p:cNvSpPr txBox="1"/>
          <p:nvPr/>
        </p:nvSpPr>
        <p:spPr>
          <a:xfrm>
            <a:off x="508000" y="7874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5000"/>
              </a:lnSpc>
            </a:pPr>
            <a:r>
              <a:rPr lang="en-US" sz="3000" noProof="1" b="1">
                <a:solidFill>
                  <a:srgbClr val="20302A"/>
                </a:solidFill>
                <a:latin typeface="MiSans"/>
                <a:ea typeface="MiSans"/>
              </a:rPr>
              <a:t>校核逻辑：低温看 Voc 上限，高温看 Vmp 下限</a:t>
            </a:r>
            <a:endParaRPr lang="en-US" sz="3000" noProof="1"/>
          </a:p>
        </p:txBody>
      </p:sp>
      <p:sp>
        <p:nvSpPr>
          <p:cNvPr id="4" name="c6-rule-accent"/>
          <p:cNvSpPr/>
          <p:nvPr/>
        </p:nvSpPr>
        <p:spPr>
          <a:xfrm>
            <a:off x="508000" y="1447800"/>
            <a:ext cx="711200" cy="38100"/>
          </a:xfrm>
          <a:prstGeom prst="rect">
            <a:avLst/>
          </a:prstGeom>
          <a:solidFill>
            <a:srgbClr val="C97B2D"/>
          </a:solidFill>
          <a:ln>
            <a:noFill/>
          </a:ln>
        </p:spPr>
      </p:sp>
      <p:sp>
        <p:nvSpPr>
          <p:cNvPr id="5" name="c6-rule"/>
          <p:cNvSpPr/>
          <p:nvPr/>
        </p:nvSpPr>
        <p:spPr>
          <a:xfrm>
            <a:off x="508000" y="1485900"/>
            <a:ext cx="11176000" cy="127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sp>
        <p:nvSpPr>
          <p:cNvPr id="6" name="c6-left-head"/>
          <p:cNvSpPr txBox="1"/>
          <p:nvPr/>
        </p:nvSpPr>
        <p:spPr>
          <a:xfrm>
            <a:off x="508000" y="18034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① 温度修正（组件侧）</a:t>
            </a:r>
            <a:endParaRPr lang="en-US" sz="1200" noProof="1"/>
          </a:p>
        </p:txBody>
      </p:sp>
      <p:sp>
        <p:nvSpPr>
          <p:cNvPr id="7" name="c6-left-formula"/>
          <p:cNvSpPr txBox="1"/>
          <p:nvPr/>
        </p:nvSpPr>
        <p:spPr>
          <a:xfrm>
            <a:off x="508000" y="2184400"/>
            <a:ext cx="5588000" cy="1219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70000"/>
              </a:lnSpc>
            </a:pPr>
            <a:r>
              <a:rPr lang="en-US" sz="1700" noProof="1" b="1">
                <a:solidFill>
                  <a:srgbClr val="123B2F"/>
                </a:solidFill>
                <a:latin typeface="MiSans"/>
                <a:ea typeface="MiSans"/>
              </a:rPr>
              <a:t>Voc_cold</a:t>
            </a:r>
            <a:r>
              <a:rPr lang="en-US" sz="1700" noProof="1">
                <a:solidFill>
                  <a:srgbClr val="20302A"/>
                </a:solidFill>
                <a:latin typeface="MiSans"/>
                <a:ea typeface="MiSans"/>
              </a:rPr>
              <a:t> = Voc_STC × [1 + β_Voc × (Tmin − 25)]</a:t>
            </a:r>
            <a:endParaRPr lang="en-US" sz="1700" noProof="1"/>
          </a:p>
          <a:p>
            <a:pPr>
              <a:lnSpc>
                <a:spcPct val="170000"/>
              </a:lnSpc>
            </a:pPr>
            <a:r>
              <a:rPr lang="en-US" sz="1700" noProof="1" b="1">
                <a:solidFill>
                  <a:srgbClr val="123B2F"/>
                </a:solidFill>
                <a:latin typeface="MiSans"/>
                <a:ea typeface="MiSans"/>
              </a:rPr>
              <a:t>Vmp_hot</a:t>
            </a:r>
            <a:r>
              <a:rPr lang="en-US" sz="1700" noProof="1">
                <a:solidFill>
                  <a:srgbClr val="20302A"/>
                </a:solidFill>
                <a:latin typeface="MiSans"/>
                <a:ea typeface="MiSans"/>
              </a:rPr>
              <a:t> = Vmp_STC × [1 + β_Vmp × (Tmax − 25)]</a:t>
            </a:r>
            <a:endParaRPr lang="en-US" sz="1700" noProof="1"/>
          </a:p>
        </p:txBody>
      </p:sp>
      <p:sp>
        <p:nvSpPr>
          <p:cNvPr id="8" name="c6-right-head"/>
          <p:cNvSpPr txBox="1"/>
          <p:nvPr/>
        </p:nvSpPr>
        <p:spPr>
          <a:xfrm>
            <a:off x="6350000" y="18034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② 通过条件（组串 ↔ 逆变器）</a:t>
            </a:r>
            <a:endParaRPr lang="en-US" sz="1200" noProof="1"/>
          </a:p>
        </p:txBody>
      </p:sp>
      <p:sp>
        <p:nvSpPr>
          <p:cNvPr id="9" name="c6-right-formula"/>
          <p:cNvSpPr txBox="1"/>
          <p:nvPr/>
        </p:nvSpPr>
        <p:spPr>
          <a:xfrm>
            <a:off x="6350000" y="2184400"/>
            <a:ext cx="5334000" cy="149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70000"/>
              </a:lnSpc>
            </a:pPr>
            <a:r>
              <a:rPr lang="en-US" sz="1600" noProof="1">
                <a:solidFill>
                  <a:srgbClr val="20302A"/>
                </a:solidFill>
                <a:latin typeface="MiSans"/>
                <a:ea typeface="MiSans"/>
              </a:rPr>
              <a:t>N串 × Voc_cold ≤ Vdc_max　</a:t>
            </a:r>
            <a:r>
              <a:rPr lang="en-US" sz="1600" noProof="1">
                <a:solidFill>
                  <a:srgbClr val="6B7A72"/>
                </a:solidFill>
                <a:latin typeface="MiSans"/>
                <a:ea typeface="MiSans"/>
              </a:rPr>
              <a:t>（最大直流电压）</a:t>
            </a:r>
            <a:endParaRPr lang="en-US" sz="1600" noProof="1"/>
          </a:p>
          <a:p>
            <a:pPr>
              <a:lnSpc>
                <a:spcPct val="170000"/>
              </a:lnSpc>
            </a:pPr>
            <a:r>
              <a:rPr lang="en-US" sz="1600" noProof="1">
                <a:solidFill>
                  <a:srgbClr val="20302A"/>
                </a:solidFill>
                <a:latin typeface="MiSans"/>
                <a:ea typeface="MiSans"/>
              </a:rPr>
              <a:t>N串 × Vmp_hot ≥ Vmppt_min　</a:t>
            </a:r>
            <a:r>
              <a:rPr lang="en-US" sz="1600" noProof="1">
                <a:solidFill>
                  <a:srgbClr val="6B7A72"/>
                </a:solidFill>
                <a:latin typeface="MiSans"/>
                <a:ea typeface="MiSans"/>
              </a:rPr>
              <a:t>（MPPT 下限）</a:t>
            </a:r>
            <a:endParaRPr lang="en-US" sz="1600" noProof="1"/>
          </a:p>
          <a:p>
            <a:pPr>
              <a:lnSpc>
                <a:spcPct val="170000"/>
              </a:lnSpc>
            </a:pPr>
            <a:r>
              <a:rPr lang="en-US" sz="1600" noProof="1">
                <a:solidFill>
                  <a:srgbClr val="20302A"/>
                </a:solidFill>
                <a:latin typeface="MiSans"/>
                <a:ea typeface="MiSans"/>
              </a:rPr>
              <a:t>N并 × Imp ≤ I_mppt_max</a:t>
            </a:r>
            <a:endParaRPr lang="en-US" sz="1600" noProof="1"/>
          </a:p>
          <a:p>
            <a:pPr>
              <a:lnSpc>
                <a:spcPct val="170000"/>
              </a:lnSpc>
            </a:pPr>
            <a:r>
              <a:rPr lang="en-US" sz="1600" noProof="1">
                <a:solidFill>
                  <a:srgbClr val="20302A"/>
                </a:solidFill>
                <a:latin typeface="MiSans"/>
                <a:ea typeface="MiSans"/>
              </a:rPr>
              <a:t>N并 × Isc ≤ I_sc_mppt_max</a:t>
            </a:r>
            <a:endParaRPr lang="en-US" sz="1600" noProof="1"/>
          </a:p>
        </p:txBody>
      </p:sp>
      <p:sp>
        <p:nvSpPr>
          <p:cNvPr id="10" name="c6-sep"/>
          <p:cNvSpPr/>
          <p:nvPr/>
        </p:nvSpPr>
        <p:spPr>
          <a:xfrm>
            <a:off x="508000" y="3886200"/>
            <a:ext cx="11176000" cy="127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sp>
        <p:nvSpPr>
          <p:cNvPr id="11" name="c6-why"/>
          <p:cNvSpPr txBox="1"/>
          <p:nvPr/>
        </p:nvSpPr>
        <p:spPr>
          <a:xfrm>
            <a:off x="508000" y="4140200"/>
            <a:ext cx="11176000" cy="190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20302A"/>
                </a:solidFill>
                <a:latin typeface="MiSans"/>
                <a:ea typeface="MiSans"/>
              </a:rPr>
              <a:t>为什么低温看 Voc：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温度越低开路电压越高，串联后可能超过逆变器最大直流电压，带来设备风险。</a:t>
            </a:r>
            <a:endParaRPr lang="en-US" sz="1500" noProof="1"/>
          </a:p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20302A"/>
                </a:solidFill>
                <a:latin typeface="MiSans"/>
                <a:ea typeface="MiSans"/>
              </a:rPr>
              <a:t>为什么高温看 Vmp：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温度升高工作电压下降，低于 MPPT 下限时逆变器无法正常跟踪最大功率点。</a:t>
            </a:r>
            <a:endParaRPr lang="en-US" sz="1500" noProof="1"/>
          </a:p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20302A"/>
                </a:solidFill>
                <a:latin typeface="MiSans"/>
                <a:ea typeface="MiSans"/>
              </a:rPr>
              <a:t>为什么同时看 Imp 与 Isc：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Imp 对应正常工作电流，Isc 对应短路条件，两者对应的设备限制不同。</a:t>
            </a:r>
            <a:endParaRPr lang="en-US" sz="1500" noProof="1"/>
          </a:p>
        </p:txBody>
      </p:sp>
      <p:sp>
        <p:nvSpPr>
          <p:cNvPr id="12" name="c6-note"/>
          <p:cNvSpPr txBox="1"/>
          <p:nvPr/>
        </p:nvSpPr>
        <p:spPr>
          <a:xfrm>
            <a:off x="508000" y="61214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100" noProof="1">
                <a:solidFill>
                  <a:srgbClr val="6B7A72"/>
                </a:solidFill>
                <a:latin typeface="MiSans"/>
                <a:ea typeface="MiSans"/>
              </a:rPr>
              <a:t>温度系数在计算表中以小数使用（例如 -0.25%/°C → -0.0025）；-10/70 °C 为课程假设，需后续用青岛设计温度确认。</a:t>
            </a:r>
            <a:endParaRPr lang="en-US" sz="1100" noProof="1"/>
          </a:p>
        </p:txBody>
      </p:sp>
      <p:sp>
        <p:nvSpPr>
          <p:cNvPr id="13" name="c6-footer"/>
          <p:cNvSpPr txBox="1"/>
          <p:nvPr/>
        </p:nvSpPr>
        <p:spPr>
          <a:xfrm>
            <a:off x="508000" y="6502400"/>
            <a:ext cx="6604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PV-100 · 100 kW 工商业屋顶光伏 · 个人方案分析（非真实工程）</a:t>
            </a:r>
            <a:endParaRPr lang="en-US" sz="1200" noProof="1"/>
          </a:p>
        </p:txBody>
      </p:sp>
      <p:sp>
        <p:nvSpPr>
          <p:cNvPr id="14" name="c6-page"/>
          <p:cNvSpPr txBox="1"/>
          <p:nvPr/>
        </p:nvSpPr>
        <p:spPr>
          <a:xfrm>
            <a:off x="10414000" y="65024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r"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06 / 11</a:t>
            </a:r>
            <a:endParaRPr lang="en-US" sz="1200" noProof="1"/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7-kicker"/>
          <p:cNvSpPr txBox="1"/>
          <p:nvPr/>
        </p:nvSpPr>
        <p:spPr>
          <a:xfrm>
            <a:off x="508000" y="4318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06 · 组串校核实例</a:t>
            </a:r>
            <a:endParaRPr lang="en-US" sz="1200" noProof="1"/>
          </a:p>
        </p:txBody>
      </p:sp>
      <p:sp>
        <p:nvSpPr>
          <p:cNvPr id="3" name="c7-title"/>
          <p:cNvSpPr txBox="1"/>
          <p:nvPr/>
        </p:nvSpPr>
        <p:spPr>
          <a:xfrm>
            <a:off x="508000" y="7874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5000"/>
              </a:lnSpc>
            </a:pPr>
            <a:r>
              <a:rPr lang="en-US" sz="3000" noProof="1" b="1">
                <a:solidFill>
                  <a:srgbClr val="20302A"/>
                </a:solidFill>
                <a:latin typeface="MiSans"/>
                <a:ea typeface="MiSans"/>
              </a:rPr>
              <a:t>Jinko 585 W：19 块/串通过，20 块/串超限</a:t>
            </a:r>
            <a:endParaRPr lang="en-US" sz="3000" noProof="1"/>
          </a:p>
        </p:txBody>
      </p:sp>
      <p:sp>
        <p:nvSpPr>
          <p:cNvPr id="4" name="c7-rule-accent"/>
          <p:cNvSpPr/>
          <p:nvPr/>
        </p:nvSpPr>
        <p:spPr>
          <a:xfrm>
            <a:off x="508000" y="1447800"/>
            <a:ext cx="711200" cy="38100"/>
          </a:xfrm>
          <a:prstGeom prst="rect">
            <a:avLst/>
          </a:prstGeom>
          <a:solidFill>
            <a:srgbClr val="C97B2D"/>
          </a:solidFill>
          <a:ln>
            <a:noFill/>
          </a:ln>
        </p:spPr>
      </p:sp>
      <p:sp>
        <p:nvSpPr>
          <p:cNvPr id="5" name="c7-rule"/>
          <p:cNvSpPr/>
          <p:nvPr/>
        </p:nvSpPr>
        <p:spPr>
          <a:xfrm>
            <a:off x="508000" y="1485900"/>
            <a:ext cx="11176000" cy="127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sp>
        <p:nvSpPr>
          <p:cNvPr id="6" name="c7-left-head"/>
          <p:cNvSpPr txBox="1"/>
          <p:nvPr/>
        </p:nvSpPr>
        <p:spPr>
          <a:xfrm>
            <a:off x="508000" y="18034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① 低温开路电压（上限校核）</a:t>
            </a:r>
            <a:endParaRPr lang="en-US" sz="1200" noProof="1"/>
          </a:p>
        </p:txBody>
      </p:sp>
      <p:sp>
        <p:nvSpPr>
          <p:cNvPr id="7" name="c7-left-formula"/>
          <p:cNvSpPr txBox="1"/>
          <p:nvPr/>
        </p:nvSpPr>
        <p:spPr>
          <a:xfrm>
            <a:off x="508000" y="2184400"/>
            <a:ext cx="558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52.47 × [1 + (−0.0025) × (−10 − 25)] ≈ 57.1 V/块</a:t>
            </a:r>
            <a:endParaRPr lang="en-US" sz="1500" noProof="1"/>
          </a:p>
        </p:txBody>
      </p:sp>
      <p:sp>
        <p:nvSpPr>
          <p:cNvPr id="8" name="c7-left-result"/>
          <p:cNvSpPr txBox="1"/>
          <p:nvPr/>
        </p:nvSpPr>
        <p:spPr>
          <a:xfrm>
            <a:off x="508000" y="2692400"/>
            <a:ext cx="5588000" cy="152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20302A"/>
                </a:solidFill>
                <a:latin typeface="MiSans"/>
                <a:ea typeface="MiSans"/>
              </a:rPr>
              <a:t>19 块/串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　57.1 × 19 ≈ </a:t>
            </a:r>
            <a:r>
              <a:rPr lang="en-US" sz="1500" noProof="1">
                <a:solidFill>
                  <a:srgbClr val="2F7D4F"/>
                </a:solidFill>
                <a:latin typeface="MiSans"/>
                <a:ea typeface="MiSans"/>
              </a:rPr>
              <a:t>1084 V ≤ 1100 V ✓</a:t>
            </a:r>
            <a:endParaRPr lang="en-US" sz="1500" noProof="1"/>
          </a:p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20302A"/>
                </a:solidFill>
                <a:latin typeface="MiSans"/>
                <a:ea typeface="MiSans"/>
              </a:rPr>
              <a:t>20 块/串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　57.1 × 20 ≈ </a:t>
            </a:r>
            <a:r>
              <a:rPr lang="en-US" sz="1500" noProof="1">
                <a:solidFill>
                  <a:srgbClr val="A9502C"/>
                </a:solidFill>
                <a:latin typeface="MiSans"/>
                <a:ea typeface="MiSans"/>
              </a:rPr>
              <a:t>1141 V &gt; 1100 V ✗ 超限</a:t>
            </a:r>
            <a:endParaRPr lang="en-US" sz="1500" noProof="1"/>
          </a:p>
        </p:txBody>
      </p:sp>
      <p:sp>
        <p:nvSpPr>
          <p:cNvPr id="9" name="c7-right-head"/>
          <p:cNvSpPr txBox="1"/>
          <p:nvPr/>
        </p:nvSpPr>
        <p:spPr>
          <a:xfrm>
            <a:off x="6350000" y="18034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② 高温工作电压（下限校核）</a:t>
            </a:r>
            <a:endParaRPr lang="en-US" sz="1200" noProof="1"/>
          </a:p>
        </p:txBody>
      </p:sp>
      <p:sp>
        <p:nvSpPr>
          <p:cNvPr id="10" name="c7-right-formula"/>
          <p:cNvSpPr txBox="1"/>
          <p:nvPr/>
        </p:nvSpPr>
        <p:spPr>
          <a:xfrm>
            <a:off x="6350000" y="2184400"/>
            <a:ext cx="5334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43.53 × [1 + (−0.0029) × (70 − 25)] ≈ 37.8 V/块</a:t>
            </a:r>
            <a:endParaRPr lang="en-US" sz="1500" noProof="1"/>
          </a:p>
        </p:txBody>
      </p:sp>
      <p:sp>
        <p:nvSpPr>
          <p:cNvPr id="11" name="c7-right-result"/>
          <p:cNvSpPr txBox="1"/>
          <p:nvPr/>
        </p:nvSpPr>
        <p:spPr>
          <a:xfrm>
            <a:off x="6350000" y="2692400"/>
            <a:ext cx="5334000" cy="152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20302A"/>
                </a:solidFill>
                <a:latin typeface="MiSans"/>
                <a:ea typeface="MiSans"/>
              </a:rPr>
              <a:t>19 块/串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　37.8 × 19 ≈ </a:t>
            </a:r>
            <a:r>
              <a:rPr lang="en-US" sz="1500" noProof="1">
                <a:solidFill>
                  <a:srgbClr val="2F7D4F"/>
                </a:solidFill>
                <a:latin typeface="MiSans"/>
                <a:ea typeface="MiSans"/>
              </a:rPr>
              <a:t>719 V ∈ [200, 1000] V ✓</a:t>
            </a:r>
            <a:endParaRPr lang="en-US" sz="1500" noProof="1"/>
          </a:p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20302A"/>
                </a:solidFill>
                <a:latin typeface="MiSans"/>
                <a:ea typeface="MiSans"/>
              </a:rPr>
              <a:t>MPPT 电流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　Imp 13.44 A / Isc 14.07 A</a:t>
            </a:r>
            <a:endParaRPr lang="en-US" sz="1500" noProof="1"/>
          </a:p>
          <a:p>
            <a:pPr>
              <a:lnSpc>
                <a:spcPct val="165000"/>
              </a:lnSpc>
            </a:pP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每路 1 串接入，余量充足 ✓</a:t>
            </a:r>
            <a:endParaRPr lang="en-US" sz="1500" noProof="1"/>
          </a:p>
        </p:txBody>
      </p:sp>
      <p:sp>
        <p:nvSpPr>
          <p:cNvPr id="12" name="c7-sep"/>
          <p:cNvSpPr/>
          <p:nvPr/>
        </p:nvSpPr>
        <p:spPr>
          <a:xfrm>
            <a:off x="508000" y="4521200"/>
            <a:ext cx="11176000" cy="127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sp>
        <p:nvSpPr>
          <p:cNvPr id="13" name="c7-conclusion"/>
          <p:cNvSpPr txBox="1"/>
          <p:nvPr/>
        </p:nvSpPr>
        <p:spPr>
          <a:xfrm>
            <a:off x="508000" y="4775200"/>
            <a:ext cx="111760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600" noProof="1" b="1">
                <a:solidFill>
                  <a:srgbClr val="20302A"/>
                </a:solidFill>
                <a:latin typeface="MiSans"/>
                <a:ea typeface="MiSans"/>
              </a:rPr>
              <a:t>结论</a:t>
            </a:r>
            <a:r>
              <a:rPr lang="en-US" sz="1600" noProof="1">
                <a:solidFill>
                  <a:srgbClr val="20302A"/>
                </a:solidFill>
                <a:latin typeface="MiSans"/>
                <a:ea typeface="MiSans"/>
              </a:rPr>
              <a:t>：19 块/串在本项目温度假设下通过电压校核；20 块/串超最大直流电压，不作候选。</a:t>
            </a:r>
            <a:endParaRPr lang="en-US" sz="1600" noProof="1"/>
          </a:p>
          <a:p>
            <a:pPr>
              <a:lnSpc>
                <a:spcPct val="165000"/>
              </a:lnSpc>
            </a:pPr>
            <a:r>
              <a:rPr lang="en-US" sz="1600" noProof="1">
                <a:solidFill>
                  <a:srgbClr val="20302A"/>
                </a:solidFill>
                <a:latin typeface="MiSans"/>
                <a:ea typeface="MiSans"/>
              </a:rPr>
              <a:t>每个 MPPT 先按 1 串接入，避免把输入电流余量算得过满。</a:t>
            </a:r>
            <a:endParaRPr lang="en-US" sz="1600" noProof="1"/>
          </a:p>
        </p:txBody>
      </p:sp>
      <p:sp>
        <p:nvSpPr>
          <p:cNvPr id="14" name="c7-note"/>
          <p:cNvSpPr txBox="1"/>
          <p:nvPr/>
        </p:nvSpPr>
        <p:spPr>
          <a:xfrm>
            <a:off x="508000" y="60706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100" noProof="1">
                <a:solidFill>
                  <a:srgbClr val="6B7A72"/>
                </a:solidFill>
                <a:latin typeface="MiSans"/>
                <a:ea typeface="MiSans"/>
              </a:rPr>
              <a:t>计算口径与 deliverables/technical_solution.md 一致；温度假设 -10/70 °C 需后续确认。</a:t>
            </a:r>
            <a:endParaRPr lang="en-US" sz="1100" noProof="1"/>
          </a:p>
        </p:txBody>
      </p:sp>
      <p:sp>
        <p:nvSpPr>
          <p:cNvPr id="15" name="c7-footer"/>
          <p:cNvSpPr txBox="1"/>
          <p:nvPr/>
        </p:nvSpPr>
        <p:spPr>
          <a:xfrm>
            <a:off x="508000" y="6502400"/>
            <a:ext cx="6604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PV-100 · 100 kW 工商业屋顶光伏 · 个人方案分析（非真实工程）</a:t>
            </a:r>
            <a:endParaRPr lang="en-US" sz="1200" noProof="1"/>
          </a:p>
        </p:txBody>
      </p:sp>
      <p:sp>
        <p:nvSpPr>
          <p:cNvPr id="16" name="c7-page"/>
          <p:cNvSpPr txBox="1"/>
          <p:nvPr/>
        </p:nvSpPr>
        <p:spPr>
          <a:xfrm>
            <a:off x="10414000" y="65024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r"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07 / 11</a:t>
            </a:r>
            <a:endParaRPr lang="en-US" sz="1200" noProof="1"/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8-kicker"/>
          <p:cNvSpPr txBox="1"/>
          <p:nvPr/>
        </p:nvSpPr>
        <p:spPr>
          <a:xfrm>
            <a:off x="508000" y="4318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07 · 三套方案对比</a:t>
            </a:r>
            <a:endParaRPr lang="en-US" sz="1200" noProof="1"/>
          </a:p>
        </p:txBody>
      </p:sp>
      <p:sp>
        <p:nvSpPr>
          <p:cNvPr id="3" name="c8-title"/>
          <p:cNvSpPr txBox="1"/>
          <p:nvPr/>
        </p:nvSpPr>
        <p:spPr>
          <a:xfrm>
            <a:off x="508000" y="7874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5000"/>
              </a:lnSpc>
            </a:pPr>
            <a:r>
              <a:rPr lang="en-US" sz="3000" noProof="1" b="1">
                <a:solidFill>
                  <a:srgbClr val="20302A"/>
                </a:solidFill>
                <a:latin typeface="MiSans"/>
                <a:ea typeface="MiSans"/>
              </a:rPr>
              <a:t>同一约束下，用容量比拉开三套取舍空间</a:t>
            </a:r>
            <a:endParaRPr lang="en-US" sz="3000" noProof="1"/>
          </a:p>
        </p:txBody>
      </p:sp>
      <p:sp>
        <p:nvSpPr>
          <p:cNvPr id="4" name="c8-rule-accent"/>
          <p:cNvSpPr/>
          <p:nvPr/>
        </p:nvSpPr>
        <p:spPr>
          <a:xfrm>
            <a:off x="508000" y="1447800"/>
            <a:ext cx="711200" cy="38100"/>
          </a:xfrm>
          <a:prstGeom prst="rect">
            <a:avLst/>
          </a:prstGeom>
          <a:solidFill>
            <a:srgbClr val="C97B2D"/>
          </a:solidFill>
          <a:ln>
            <a:noFill/>
          </a:ln>
        </p:spPr>
      </p:sp>
      <p:sp>
        <p:nvSpPr>
          <p:cNvPr id="5" name="c8-rule"/>
          <p:cNvSpPr/>
          <p:nvPr/>
        </p:nvSpPr>
        <p:spPr>
          <a:xfrm>
            <a:off x="508000" y="1485900"/>
            <a:ext cx="11176000" cy="127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graphicFrame>
        <p:nvGraphicFramePr>
          <p:cNvPr id="6" name="c8-table"/>
          <p:cNvGraphicFramePr>
            <a:graphicFrameLocks noGrp="1"/>
          </p:cNvGraphicFramePr>
          <p:nvPr/>
        </p:nvGraphicFramePr>
        <p:xfrm>
          <a:off x="508000" y="1879600"/>
          <a:ext cx="7112000" cy="2794000"/>
        </p:xfrm>
        <a:graphic>
          <a:graphicData uri="http://schemas.openxmlformats.org/drawingml/2006/table">
            <a:tbl>
              <a:tblPr/>
              <a:tblGrid>
                <a:gridCol w="1066800"/>
                <a:gridCol w="1991360"/>
                <a:gridCol w="924560"/>
                <a:gridCol w="1066800"/>
                <a:gridCol w="853440"/>
                <a:gridCol w="1209040"/>
              </a:tblGrid>
              <a:tr h="558800"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方案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123B2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组件 / 逆变器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123B2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组串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123B2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直流容量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123B2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容量比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123B2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面积初核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123B2F"/>
                    </a:solidFill>
                  </a:tcPr>
                </a:tc>
              </a:tr>
              <a:tr h="745998"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 b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A 保守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Jinko 585 / SG110CX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19 × 9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100.0 kWp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1.00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551.5 m²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998"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 b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B 平衡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2E3C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Jinko 585 / SG110CX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2E3C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19 × 10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2E3C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111.2 kWp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2E3C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1.11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2E3C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612.8 m²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2E3CF"/>
                    </a:solidFill>
                  </a:tcPr>
                </a:tc>
              </a:tr>
              <a:tr h="743204"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 b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C 偏高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Trina 580 / 100KTL-M2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20 × 11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127.6 kWp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1.28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ctr"/>
                      <a:r>
                        <a:rPr lang="en-US" sz="1300" noProof="1">
                          <a:solidFill>
                            <a:srgbClr val="20302A"/>
                          </a:solidFill>
                          <a:latin typeface="Times New Roman"/>
                          <a:ea typeface="Times New Roman"/>
                        </a:rPr>
                        <a:t>709.5 m²</a:t>
                      </a:r>
                    </a:p>
                  </a:txBody>
                  <a:tcPr marL="91440" marR="91440" marT="45720" marB="45720" anchor="ctr">
                    <a:lnL w="12700">
                      <a:solidFill>
                        <a:srgbClr val="D9D2C0"/>
                      </a:solidFill>
                    </a:lnL>
                    <a:lnR w="12700">
                      <a:solidFill>
                        <a:srgbClr val="D9D2C0"/>
                      </a:solidFill>
                    </a:lnR>
                    <a:lnT w="12700">
                      <a:solidFill>
                        <a:srgbClr val="D9D2C0"/>
                      </a:solidFill>
                    </a:lnT>
                    <a:lnB w="12700">
                      <a:solidFill>
                        <a:srgbClr val="D9D2C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8-chart"/>
          <p:cNvGraphicFramePr/>
          <p:nvPr/>
        </p:nvGraphicFramePr>
        <p:xfrm>
          <a:off x="7874000" y="1879600"/>
          <a:ext cx="3810000" cy="32766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8" name="c8-conclusion"/>
          <p:cNvSpPr txBox="1"/>
          <p:nvPr/>
        </p:nvSpPr>
        <p:spPr>
          <a:xfrm>
            <a:off x="508000" y="48514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20302A"/>
                </a:solidFill>
                <a:latin typeface="MiSans"/>
                <a:ea typeface="MiSans"/>
              </a:rPr>
              <a:t>推荐候选 B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：容量比 1.11、面积 612.8 m²，综合最均衡；</a:t>
            </a:r>
            <a:endParaRPr lang="en-US" sz="1500" noProof="1"/>
          </a:p>
          <a:p>
            <a:pPr>
              <a:lnSpc>
                <a:spcPct val="165000"/>
              </a:lnSpc>
            </a:pP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A 直流侧利用率偏低；C 的 709.5 m² 已接近 800 m² 假设上限，</a:t>
            </a:r>
            <a:endParaRPr lang="en-US" sz="1500" noProof="1"/>
          </a:p>
          <a:p>
            <a:pPr>
              <a:lnSpc>
                <a:spcPct val="165000"/>
              </a:lnSpc>
            </a:pP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需关注削峰与屋顶排布压力。</a:t>
            </a:r>
            <a:endParaRPr lang="en-US" sz="1500" noProof="1"/>
          </a:p>
        </p:txBody>
      </p:sp>
      <p:sp>
        <p:nvSpPr>
          <p:cNvPr id="9" name="c8-note"/>
          <p:cNvSpPr txBox="1"/>
          <p:nvPr/>
        </p:nvSpPr>
        <p:spPr>
          <a:xfrm>
            <a:off x="508000" y="6121400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100" noProof="1">
                <a:solidFill>
                  <a:srgbClr val="6B7A72"/>
                </a:solidFill>
                <a:latin typeface="MiSans"/>
                <a:ea typeface="MiSans"/>
              </a:rPr>
              <a:t>面积初核 = 组件净面积 × 1.25（含通道与检修余量），不替代排布图；容量比 = 直流容量 / 交流侧 100 kW。</a:t>
            </a:r>
            <a:endParaRPr lang="en-US" sz="1100" noProof="1"/>
          </a:p>
        </p:txBody>
      </p:sp>
      <p:sp>
        <p:nvSpPr>
          <p:cNvPr id="10" name="c8-footer"/>
          <p:cNvSpPr txBox="1"/>
          <p:nvPr/>
        </p:nvSpPr>
        <p:spPr>
          <a:xfrm>
            <a:off x="508000" y="6502400"/>
            <a:ext cx="6604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PV-100 · 100 kW 工商业屋顶光伏 · 个人方案分析（非真实工程）</a:t>
            </a:r>
            <a:endParaRPr lang="en-US" sz="1200" noProof="1"/>
          </a:p>
        </p:txBody>
      </p:sp>
      <p:sp>
        <p:nvSpPr>
          <p:cNvPr id="11" name="c8-page"/>
          <p:cNvSpPr txBox="1"/>
          <p:nvPr/>
        </p:nvSpPr>
        <p:spPr>
          <a:xfrm>
            <a:off x="10414000" y="65024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r"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08 / 11</a:t>
            </a:r>
            <a:endParaRPr lang="en-US" sz="1200" noProof="1"/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9-kicker"/>
          <p:cNvSpPr txBox="1"/>
          <p:nvPr/>
        </p:nvSpPr>
        <p:spPr>
          <a:xfrm>
            <a:off x="508000" y="4318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08 · 取舍与推荐理由</a:t>
            </a:r>
            <a:endParaRPr lang="en-US" sz="1200" noProof="1"/>
          </a:p>
        </p:txBody>
      </p:sp>
      <p:sp>
        <p:nvSpPr>
          <p:cNvPr id="3" name="c9-title"/>
          <p:cNvSpPr txBox="1"/>
          <p:nvPr/>
        </p:nvSpPr>
        <p:spPr>
          <a:xfrm>
            <a:off x="508000" y="7874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5000"/>
              </a:lnSpc>
            </a:pPr>
            <a:r>
              <a:rPr lang="en-US" sz="3000" noProof="1" b="1">
                <a:solidFill>
                  <a:srgbClr val="20302A"/>
                </a:solidFill>
                <a:latin typeface="MiSans"/>
                <a:ea typeface="MiSans"/>
              </a:rPr>
              <a:t>选 B 不是因为它每一项最高，而是取舍更可解释</a:t>
            </a:r>
            <a:endParaRPr lang="en-US" sz="3000" noProof="1"/>
          </a:p>
        </p:txBody>
      </p:sp>
      <p:sp>
        <p:nvSpPr>
          <p:cNvPr id="4" name="c9-rule-accent"/>
          <p:cNvSpPr/>
          <p:nvPr/>
        </p:nvSpPr>
        <p:spPr>
          <a:xfrm>
            <a:off x="508000" y="1447800"/>
            <a:ext cx="711200" cy="38100"/>
          </a:xfrm>
          <a:prstGeom prst="rect">
            <a:avLst/>
          </a:prstGeom>
          <a:solidFill>
            <a:srgbClr val="C97B2D"/>
          </a:solidFill>
          <a:ln>
            <a:noFill/>
          </a:ln>
        </p:spPr>
      </p:sp>
      <p:sp>
        <p:nvSpPr>
          <p:cNvPr id="5" name="c9-rule"/>
          <p:cNvSpPr/>
          <p:nvPr/>
        </p:nvSpPr>
        <p:spPr>
          <a:xfrm>
            <a:off x="508000" y="1485900"/>
            <a:ext cx="11176000" cy="127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sp>
        <p:nvSpPr>
          <p:cNvPr id="6" name="c9-num-1"/>
          <p:cNvSpPr txBox="1"/>
          <p:nvPr/>
        </p:nvSpPr>
        <p:spPr>
          <a:xfrm>
            <a:off x="508000" y="1905000"/>
            <a:ext cx="889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3000" noProof="1" b="1">
                <a:solidFill>
                  <a:srgbClr val="C97B2D"/>
                </a:solidFill>
                <a:latin typeface="MiSans"/>
                <a:ea typeface="MiSans"/>
              </a:rPr>
              <a:t>01</a:t>
            </a:r>
            <a:endParaRPr lang="en-US" sz="3000" noProof="1"/>
          </a:p>
        </p:txBody>
      </p:sp>
      <p:sp>
        <p:nvSpPr>
          <p:cNvPr id="7" name="c9-text-1"/>
          <p:cNvSpPr txBox="1"/>
          <p:nvPr/>
        </p:nvSpPr>
        <p:spPr>
          <a:xfrm>
            <a:off x="1651000" y="1905000"/>
            <a:ext cx="10033000" cy="939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600" noProof="1" b="1">
                <a:solidFill>
                  <a:srgbClr val="20302A"/>
                </a:solidFill>
                <a:latin typeface="MiSans"/>
                <a:ea typeface="MiSans"/>
              </a:rPr>
              <a:t>面积仍有余量</a:t>
            </a:r>
            <a:r>
              <a:rPr lang="en-US" sz="1600" noProof="1">
                <a:solidFill>
                  <a:srgbClr val="20302A"/>
                </a:solidFill>
                <a:latin typeface="MiSans"/>
                <a:ea typeface="MiSans"/>
              </a:rPr>
              <a:t>：B 用 612.8 m²，距 800 m² 假设上限约 187 m²；</a:t>
            </a:r>
            <a:endParaRPr lang="en-US" sz="1600" noProof="1"/>
          </a:p>
          <a:p>
            <a:pPr>
              <a:lnSpc>
                <a:spcPct val="165000"/>
              </a:lnSpc>
            </a:pPr>
            <a:r>
              <a:rPr lang="en-US" sz="1600" noProof="1">
                <a:solidFill>
                  <a:srgbClr val="20302A"/>
                </a:solidFill>
                <a:latin typeface="MiSans"/>
                <a:ea typeface="MiSans"/>
              </a:rPr>
              <a:t>C 的 709.5 m² 只剩约 90 m²，排布与通道压力更大。</a:t>
            </a:r>
            <a:endParaRPr lang="en-US" sz="1600" noProof="1"/>
          </a:p>
        </p:txBody>
      </p:sp>
      <p:sp>
        <p:nvSpPr>
          <p:cNvPr id="8" name="c9-sep-1"/>
          <p:cNvSpPr/>
          <p:nvPr/>
        </p:nvSpPr>
        <p:spPr>
          <a:xfrm>
            <a:off x="508000" y="2971800"/>
            <a:ext cx="11176000" cy="127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sp>
        <p:nvSpPr>
          <p:cNvPr id="9" name="c9-num-2"/>
          <p:cNvSpPr txBox="1"/>
          <p:nvPr/>
        </p:nvSpPr>
        <p:spPr>
          <a:xfrm>
            <a:off x="508000" y="3098800"/>
            <a:ext cx="889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3000" noProof="1" b="1">
                <a:solidFill>
                  <a:srgbClr val="C97B2D"/>
                </a:solidFill>
                <a:latin typeface="MiSans"/>
                <a:ea typeface="MiSans"/>
              </a:rPr>
              <a:t>02</a:t>
            </a:r>
            <a:endParaRPr lang="en-US" sz="3000" noProof="1"/>
          </a:p>
        </p:txBody>
      </p:sp>
      <p:sp>
        <p:nvSpPr>
          <p:cNvPr id="10" name="c9-text-2"/>
          <p:cNvSpPr txBox="1"/>
          <p:nvPr/>
        </p:nvSpPr>
        <p:spPr>
          <a:xfrm>
            <a:off x="1651000" y="3098800"/>
            <a:ext cx="10033000" cy="939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600" noProof="1" b="1">
                <a:solidFill>
                  <a:srgbClr val="20302A"/>
                </a:solidFill>
                <a:latin typeface="MiSans"/>
                <a:ea typeface="MiSans"/>
              </a:rPr>
              <a:t>直流侧更充分</a:t>
            </a:r>
            <a:r>
              <a:rPr lang="en-US" sz="1600" noProof="1">
                <a:solidFill>
                  <a:srgbClr val="20302A"/>
                </a:solidFill>
                <a:latin typeface="MiSans"/>
                <a:ea typeface="MiSans"/>
              </a:rPr>
              <a:t>：容量比 1.11 高于 A 的 1.00，阴天 / 高温等低辐照时段</a:t>
            </a:r>
            <a:endParaRPr lang="en-US" sz="1600" noProof="1"/>
          </a:p>
          <a:p>
            <a:pPr>
              <a:lnSpc>
                <a:spcPct val="165000"/>
              </a:lnSpc>
            </a:pPr>
            <a:r>
              <a:rPr lang="en-US" sz="1600" noProof="1">
                <a:solidFill>
                  <a:srgbClr val="20302A"/>
                </a:solidFill>
                <a:latin typeface="MiSans"/>
                <a:ea typeface="MiSans"/>
              </a:rPr>
              <a:t>更接近逆变器额定输出，直流利用率更高。</a:t>
            </a:r>
            <a:endParaRPr lang="en-US" sz="1600" noProof="1"/>
          </a:p>
        </p:txBody>
      </p:sp>
      <p:sp>
        <p:nvSpPr>
          <p:cNvPr id="11" name="c9-sep-2"/>
          <p:cNvSpPr/>
          <p:nvPr/>
        </p:nvSpPr>
        <p:spPr>
          <a:xfrm>
            <a:off x="508000" y="4165600"/>
            <a:ext cx="11176000" cy="127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sp>
        <p:nvSpPr>
          <p:cNvPr id="12" name="c9-num-3"/>
          <p:cNvSpPr txBox="1"/>
          <p:nvPr/>
        </p:nvSpPr>
        <p:spPr>
          <a:xfrm>
            <a:off x="508000" y="4292600"/>
            <a:ext cx="889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3000" noProof="1" b="1">
                <a:solidFill>
                  <a:srgbClr val="C97B2D"/>
                </a:solidFill>
                <a:latin typeface="MiSans"/>
                <a:ea typeface="MiSans"/>
              </a:rPr>
              <a:t>03</a:t>
            </a:r>
            <a:endParaRPr lang="en-US" sz="3000" noProof="1"/>
          </a:p>
        </p:txBody>
      </p:sp>
      <p:sp>
        <p:nvSpPr>
          <p:cNvPr id="13" name="c9-text-3"/>
          <p:cNvSpPr txBox="1"/>
          <p:nvPr/>
        </p:nvSpPr>
        <p:spPr>
          <a:xfrm>
            <a:off x="1651000" y="4292600"/>
            <a:ext cx="10033000" cy="939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600" noProof="1" b="1">
                <a:solidFill>
                  <a:srgbClr val="20302A"/>
                </a:solidFill>
                <a:latin typeface="MiSans"/>
                <a:ea typeface="MiSans"/>
              </a:rPr>
              <a:t>配置更简单</a:t>
            </a:r>
            <a:r>
              <a:rPr lang="en-US" sz="1600" noProof="1">
                <a:solidFill>
                  <a:srgbClr val="20302A"/>
                </a:solidFill>
                <a:latin typeface="MiSans"/>
                <a:ea typeface="MiSans"/>
              </a:rPr>
              <a:t>：10 串（19 块/串）按 1 串/路接入 9 路 MPPT，</a:t>
            </a:r>
            <a:endParaRPr lang="en-US" sz="1600" noProof="1"/>
          </a:p>
          <a:p>
            <a:pPr>
              <a:lnSpc>
                <a:spcPct val="165000"/>
              </a:lnSpc>
            </a:pPr>
            <a:r>
              <a:rPr lang="en-US" sz="1600" noProof="1">
                <a:solidFill>
                  <a:srgbClr val="20302A"/>
                </a:solidFill>
                <a:latin typeface="MiSans"/>
                <a:ea typeface="MiSans"/>
              </a:rPr>
              <a:t>比 C 的 11 串更好解释，也便于后续维护与故障定位。</a:t>
            </a:r>
            <a:endParaRPr lang="en-US" sz="1600" noProof="1"/>
          </a:p>
        </p:txBody>
      </p:sp>
      <p:sp>
        <p:nvSpPr>
          <p:cNvPr id="14" name="c9-note"/>
          <p:cNvSpPr txBox="1"/>
          <p:nvPr/>
        </p:nvSpPr>
        <p:spPr>
          <a:xfrm>
            <a:off x="508000" y="5461000"/>
            <a:ext cx="111760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400" noProof="1" b="1">
                <a:solidFill>
                  <a:srgbClr val="20302A"/>
                </a:solidFill>
                <a:latin typeface="MiSans"/>
                <a:ea typeface="MiSans"/>
              </a:rPr>
              <a:t>成立条件</a:t>
            </a:r>
            <a:r>
              <a:rPr lang="en-US" sz="1400" noProof="1">
                <a:solidFill>
                  <a:srgbClr val="6B7A72"/>
                </a:solidFill>
                <a:latin typeface="MiSans"/>
                <a:ea typeface="MiSans"/>
              </a:rPr>
              <a:t>：结论依赖 -10/70 °C 温度假设与 1.25 面积利用系数。</a:t>
            </a:r>
            <a:endParaRPr lang="en-US" sz="1400" noProof="1"/>
          </a:p>
          <a:p>
            <a:pPr>
              <a:lnSpc>
                <a:spcPct val="165000"/>
              </a:lnSpc>
            </a:pPr>
            <a:r>
              <a:rPr lang="en-US" sz="1400" noProof="1">
                <a:solidFill>
                  <a:srgbClr val="6B7A72"/>
                </a:solidFill>
                <a:latin typeface="MiSans"/>
                <a:ea typeface="MiSans"/>
              </a:rPr>
              <a:t>若实际设计温度、屋顶排布或设备版本变化，需回到约束表重新校核。</a:t>
            </a:r>
            <a:endParaRPr lang="en-US" sz="1400" noProof="1"/>
          </a:p>
        </p:txBody>
      </p:sp>
      <p:sp>
        <p:nvSpPr>
          <p:cNvPr id="15" name="c9-footer"/>
          <p:cNvSpPr txBox="1"/>
          <p:nvPr/>
        </p:nvSpPr>
        <p:spPr>
          <a:xfrm>
            <a:off x="508000" y="6502400"/>
            <a:ext cx="6604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PV-100 · 100 kW 工商业屋顶光伏 · 个人方案分析（非真实工程）</a:t>
            </a:r>
            <a:endParaRPr lang="en-US" sz="1200" noProof="1"/>
          </a:p>
        </p:txBody>
      </p:sp>
      <p:sp>
        <p:nvSpPr>
          <p:cNvPr id="16" name="c9-page"/>
          <p:cNvSpPr txBox="1"/>
          <p:nvPr/>
        </p:nvSpPr>
        <p:spPr>
          <a:xfrm>
            <a:off x="10414000" y="65024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r"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09 / 11</a:t>
            </a:r>
            <a:endParaRPr lang="en-US" sz="1200" noProof="1"/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10-kicker"/>
          <p:cNvSpPr txBox="1"/>
          <p:nvPr/>
        </p:nvSpPr>
        <p:spPr>
          <a:xfrm>
            <a:off x="508000" y="4318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09 · 风险与待办</a:t>
            </a:r>
            <a:endParaRPr lang="en-US" sz="1200" noProof="1"/>
          </a:p>
        </p:txBody>
      </p:sp>
      <p:sp>
        <p:nvSpPr>
          <p:cNvPr id="3" name="c10-title"/>
          <p:cNvSpPr txBox="1"/>
          <p:nvPr/>
        </p:nvSpPr>
        <p:spPr>
          <a:xfrm>
            <a:off x="508000" y="7874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5000"/>
              </a:lnSpc>
            </a:pPr>
            <a:r>
              <a:rPr lang="en-US" sz="3000" noProof="1" b="1">
                <a:solidFill>
                  <a:srgbClr val="20302A"/>
                </a:solidFill>
                <a:latin typeface="MiSans"/>
                <a:ea typeface="MiSans"/>
              </a:rPr>
              <a:t>边界讲清楚：哪些已核实，哪些必须后续确认</a:t>
            </a:r>
            <a:endParaRPr lang="en-US" sz="3000" noProof="1"/>
          </a:p>
        </p:txBody>
      </p:sp>
      <p:sp>
        <p:nvSpPr>
          <p:cNvPr id="4" name="c10-rule-accent"/>
          <p:cNvSpPr/>
          <p:nvPr/>
        </p:nvSpPr>
        <p:spPr>
          <a:xfrm>
            <a:off x="508000" y="1447800"/>
            <a:ext cx="711200" cy="38100"/>
          </a:xfrm>
          <a:prstGeom prst="rect">
            <a:avLst/>
          </a:prstGeom>
          <a:solidFill>
            <a:srgbClr val="C97B2D"/>
          </a:solidFill>
          <a:ln>
            <a:noFill/>
          </a:ln>
        </p:spPr>
      </p:sp>
      <p:sp>
        <p:nvSpPr>
          <p:cNvPr id="5" name="c10-rule"/>
          <p:cNvSpPr/>
          <p:nvPr/>
        </p:nvSpPr>
        <p:spPr>
          <a:xfrm>
            <a:off x="508000" y="1485900"/>
            <a:ext cx="11176000" cy="127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sp>
        <p:nvSpPr>
          <p:cNvPr id="6" name="c10-left-head"/>
          <p:cNvSpPr txBox="1"/>
          <p:nvPr/>
        </p:nvSpPr>
        <p:spPr>
          <a:xfrm>
            <a:off x="508000" y="1803400"/>
            <a:ext cx="4572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目前可复述的口径</a:t>
            </a:r>
            <a:endParaRPr lang="en-US" sz="1200" noProof="1"/>
          </a:p>
        </p:txBody>
      </p:sp>
      <p:sp>
        <p:nvSpPr>
          <p:cNvPr id="7" name="c10-left"/>
          <p:cNvSpPr txBox="1"/>
          <p:nvPr/>
        </p:nvSpPr>
        <p:spPr>
          <a:xfrm>
            <a:off x="508000" y="2235200"/>
            <a:ext cx="5588000" cy="279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400" noProof="1">
                <a:solidFill>
                  <a:srgbClr val="20302A"/>
                </a:solidFill>
                <a:latin typeface="MiSans"/>
                <a:ea typeface="MiSans"/>
              </a:rPr>
              <a:t>· 组串结果来自 Excel 公式计算（B：19 × 10，111.2 kWp，容量比 1.11）</a:t>
            </a:r>
            <a:endParaRPr lang="en-US" sz="1400" noProof="1"/>
          </a:p>
          <a:p>
            <a:pPr>
              <a:lnSpc>
                <a:spcPct val="165000"/>
              </a:lnSpc>
            </a:pPr>
            <a:r>
              <a:rPr lang="en-US" sz="1400" noProof="1">
                <a:solidFill>
                  <a:srgbClr val="20302A"/>
                </a:solidFill>
                <a:latin typeface="MiSans"/>
                <a:ea typeface="MiSans"/>
              </a:rPr>
              <a:t>· 设备参数来源已登记（source_register.md，访问 2026-07-30）</a:t>
            </a:r>
            <a:endParaRPr lang="en-US" sz="1400" noProof="1"/>
          </a:p>
          <a:p>
            <a:pPr>
              <a:lnSpc>
                <a:spcPct val="165000"/>
              </a:lnSpc>
            </a:pPr>
            <a:r>
              <a:rPr lang="en-US" sz="1400" noProof="1">
                <a:solidFill>
                  <a:srgbClr val="20302A"/>
                </a:solidFill>
                <a:latin typeface="MiSans"/>
                <a:ea typeface="MiSans"/>
              </a:rPr>
              <a:t>· 结论口径为方案级，不含施工 / 并网 / 收益承诺</a:t>
            </a:r>
            <a:endParaRPr lang="en-US" sz="1400" noProof="1"/>
          </a:p>
        </p:txBody>
      </p:sp>
      <p:sp>
        <p:nvSpPr>
          <p:cNvPr id="8" name="c10-right-head"/>
          <p:cNvSpPr txBox="1"/>
          <p:nvPr/>
        </p:nvSpPr>
        <p:spPr>
          <a:xfrm>
            <a:off x="6350000" y="18034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必须后续确认（暂不承诺）</a:t>
            </a:r>
            <a:endParaRPr lang="en-US" sz="1200" noProof="1"/>
          </a:p>
        </p:txBody>
      </p:sp>
      <p:sp>
        <p:nvSpPr>
          <p:cNvPr id="9" name="c10-right"/>
          <p:cNvSpPr txBox="1"/>
          <p:nvPr/>
        </p:nvSpPr>
        <p:spPr>
          <a:xfrm>
            <a:off x="6350000" y="2235200"/>
            <a:ext cx="5334000" cy="292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400" noProof="1">
                <a:solidFill>
                  <a:srgbClr val="A9502C"/>
                </a:solidFill>
                <a:latin typeface="MiSans"/>
                <a:ea typeface="MiSans"/>
              </a:rPr>
              <a:t>·</a:t>
            </a:r>
            <a:r>
              <a:rPr lang="en-US" sz="1400" noProof="1">
                <a:solidFill>
                  <a:srgbClr val="20302A"/>
                </a:solidFill>
                <a:latin typeface="MiSans"/>
                <a:ea typeface="MiSans"/>
              </a:rPr>
              <a:t> 结构承载、真实排布与通道</a:t>
            </a:r>
            <a:endParaRPr lang="en-US" sz="1400" noProof="1"/>
          </a:p>
          <a:p>
            <a:pPr>
              <a:lnSpc>
                <a:spcPct val="165000"/>
              </a:lnSpc>
            </a:pPr>
            <a:r>
              <a:rPr lang="en-US" sz="1400" noProof="1">
                <a:solidFill>
                  <a:srgbClr val="A9502C"/>
                </a:solidFill>
                <a:latin typeface="MiSans"/>
                <a:ea typeface="MiSans"/>
              </a:rPr>
              <a:t>·</a:t>
            </a:r>
            <a:r>
              <a:rPr lang="en-US" sz="1400" noProof="1">
                <a:solidFill>
                  <a:srgbClr val="20302A"/>
                </a:solidFill>
                <a:latin typeface="MiSans"/>
                <a:ea typeface="MiSans"/>
              </a:rPr>
              <a:t> 线缆截面、保护整定、防雷接地</a:t>
            </a:r>
            <a:endParaRPr lang="en-US" sz="1400" noProof="1"/>
          </a:p>
          <a:p>
            <a:pPr>
              <a:lnSpc>
                <a:spcPct val="165000"/>
              </a:lnSpc>
            </a:pPr>
            <a:r>
              <a:rPr lang="en-US" sz="1400" noProof="1">
                <a:solidFill>
                  <a:srgbClr val="A9502C"/>
                </a:solidFill>
                <a:latin typeface="MiSans"/>
                <a:ea typeface="MiSans"/>
              </a:rPr>
              <a:t>·</a:t>
            </a:r>
            <a:r>
              <a:rPr lang="en-US" sz="1400" noProof="1">
                <a:solidFill>
                  <a:srgbClr val="20302A"/>
                </a:solidFill>
                <a:latin typeface="MiSans"/>
                <a:ea typeface="MiSans"/>
              </a:rPr>
              <a:t> 并网审批要求与设备最终版本</a:t>
            </a:r>
            <a:endParaRPr lang="en-US" sz="1400" noProof="1"/>
          </a:p>
          <a:p>
            <a:pPr>
              <a:lnSpc>
                <a:spcPct val="165000"/>
              </a:lnSpc>
            </a:pPr>
            <a:r>
              <a:rPr lang="en-US" sz="1400" noProof="1">
                <a:solidFill>
                  <a:srgbClr val="A9502C"/>
                </a:solidFill>
                <a:latin typeface="MiSans"/>
                <a:ea typeface="MiSans"/>
              </a:rPr>
              <a:t>·</a:t>
            </a:r>
            <a:r>
              <a:rPr lang="en-US" sz="1400" noProof="1">
                <a:solidFill>
                  <a:srgbClr val="20302A"/>
                </a:solidFill>
                <a:latin typeface="MiSans"/>
                <a:ea typeface="MiSans"/>
              </a:rPr>
              <a:t> 价格、施工与融资 / 收益测算</a:t>
            </a:r>
            <a:endParaRPr lang="en-US" sz="1400" noProof="1"/>
          </a:p>
          <a:p>
            <a:pPr>
              <a:lnSpc>
                <a:spcPct val="165000"/>
              </a:lnSpc>
            </a:pPr>
            <a:r>
              <a:rPr lang="en-US" sz="1400" noProof="1">
                <a:solidFill>
                  <a:srgbClr val="A9502C"/>
                </a:solidFill>
                <a:latin typeface="MiSans"/>
                <a:ea typeface="MiSans"/>
              </a:rPr>
              <a:t>·</a:t>
            </a:r>
            <a:r>
              <a:rPr lang="en-US" sz="1400" noProof="1">
                <a:solidFill>
                  <a:srgbClr val="20302A"/>
                </a:solidFill>
                <a:latin typeface="MiSans"/>
                <a:ea typeface="MiSans"/>
              </a:rPr>
              <a:t> SAM 年发电量：尚未运行，不填虚构数字（sam/exports/ 待生成）</a:t>
            </a:r>
            <a:endParaRPr lang="en-US" sz="1400" noProof="1"/>
          </a:p>
        </p:txBody>
      </p:sp>
      <p:sp>
        <p:nvSpPr>
          <p:cNvPr id="10" name="c10-next"/>
          <p:cNvSpPr txBox="1"/>
          <p:nvPr/>
        </p:nvSpPr>
        <p:spPr>
          <a:xfrm>
            <a:off x="508000" y="5562600"/>
            <a:ext cx="111760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500" noProof="1" b="1">
                <a:solidFill>
                  <a:srgbClr val="20302A"/>
                </a:solidFill>
                <a:latin typeface="MiSans"/>
                <a:ea typeface="MiSans"/>
              </a:rPr>
              <a:t>下一步</a:t>
            </a: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：安装 SAM → 按 sam/sam_method.md 用同一组假设跑三套方案 →</a:t>
            </a:r>
            <a:endParaRPr lang="en-US" sz="1500" noProof="1"/>
          </a:p>
          <a:p>
            <a:pPr>
              <a:lnSpc>
                <a:spcPct val="165000"/>
              </a:lnSpc>
            </a:pPr>
            <a:r>
              <a:rPr lang="en-US" sz="1500" noProof="1">
                <a:solidFill>
                  <a:srgbClr val="20302A"/>
                </a:solidFill>
                <a:latin typeface="MiSans"/>
                <a:ea typeface="MiSans"/>
              </a:rPr>
              <a:t>原始导出 CSV 存入 sam/exports/ → 更新 results_summary.md。</a:t>
            </a:r>
            <a:endParaRPr lang="en-US" sz="1500" noProof="1"/>
          </a:p>
        </p:txBody>
      </p:sp>
      <p:sp>
        <p:nvSpPr>
          <p:cNvPr id="11" name="c10-footer"/>
          <p:cNvSpPr txBox="1"/>
          <p:nvPr/>
        </p:nvSpPr>
        <p:spPr>
          <a:xfrm>
            <a:off x="508000" y="6502400"/>
            <a:ext cx="6604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PV-100 · 100 kW 工商业屋顶光伏 · 个人方案分析（非真实工程）</a:t>
            </a:r>
            <a:endParaRPr lang="en-US" sz="1200" noProof="1"/>
          </a:p>
        </p:txBody>
      </p:sp>
      <p:sp>
        <p:nvSpPr>
          <p:cNvPr id="12" name="c10-page"/>
          <p:cNvSpPr txBox="1"/>
          <p:nvPr/>
        </p:nvSpPr>
        <p:spPr>
          <a:xfrm>
            <a:off x="10414000" y="65024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r"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10 / 11</a:t>
            </a:r>
            <a:endParaRPr lang="en-US" sz="1200" noProof="1"/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11-kicker"/>
          <p:cNvSpPr txBox="1"/>
          <p:nvPr/>
        </p:nvSpPr>
        <p:spPr>
          <a:xfrm>
            <a:off x="508000" y="431800"/>
            <a:ext cx="508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10 · 交付物与下一步</a:t>
            </a:r>
            <a:endParaRPr lang="en-US" sz="1200" noProof="1"/>
          </a:p>
        </p:txBody>
      </p:sp>
      <p:sp>
        <p:nvSpPr>
          <p:cNvPr id="3" name="c11-title"/>
          <p:cNvSpPr txBox="1"/>
          <p:nvPr/>
        </p:nvSpPr>
        <p:spPr>
          <a:xfrm>
            <a:off x="508000" y="787400"/>
            <a:ext cx="111760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5000"/>
              </a:lnSpc>
            </a:pPr>
            <a:r>
              <a:rPr lang="en-US" sz="3000" noProof="1" b="1">
                <a:solidFill>
                  <a:srgbClr val="20302A"/>
                </a:solidFill>
                <a:latin typeface="MiSans"/>
                <a:ea typeface="MiSans"/>
              </a:rPr>
              <a:t>交付物可复核，下一步先把 SAM 跑起来</a:t>
            </a:r>
            <a:endParaRPr lang="en-US" sz="3000" noProof="1"/>
          </a:p>
        </p:txBody>
      </p:sp>
      <p:sp>
        <p:nvSpPr>
          <p:cNvPr id="4" name="c11-rule-accent"/>
          <p:cNvSpPr/>
          <p:nvPr/>
        </p:nvSpPr>
        <p:spPr>
          <a:xfrm>
            <a:off x="508000" y="1447800"/>
            <a:ext cx="711200" cy="38100"/>
          </a:xfrm>
          <a:prstGeom prst="rect">
            <a:avLst/>
          </a:prstGeom>
          <a:solidFill>
            <a:srgbClr val="C97B2D"/>
          </a:solidFill>
          <a:ln>
            <a:noFill/>
          </a:ln>
        </p:spPr>
      </p:sp>
      <p:sp>
        <p:nvSpPr>
          <p:cNvPr id="5" name="c11-rule"/>
          <p:cNvSpPr/>
          <p:nvPr/>
        </p:nvSpPr>
        <p:spPr>
          <a:xfrm>
            <a:off x="508000" y="1485900"/>
            <a:ext cx="11176000" cy="12700"/>
          </a:xfrm>
          <a:prstGeom prst="rect">
            <a:avLst/>
          </a:prstGeom>
          <a:solidFill>
            <a:srgbClr val="D9D2C0"/>
          </a:solidFill>
          <a:ln>
            <a:noFill/>
          </a:ln>
        </p:spPr>
      </p:sp>
      <p:sp>
        <p:nvSpPr>
          <p:cNvPr id="6" name="c11-left-head"/>
          <p:cNvSpPr txBox="1"/>
          <p:nvPr/>
        </p:nvSpPr>
        <p:spPr>
          <a:xfrm>
            <a:off x="508000" y="18034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仓库内交付物</a:t>
            </a:r>
            <a:endParaRPr lang="en-US" sz="1200" noProof="1"/>
          </a:p>
        </p:txBody>
      </p:sp>
      <p:sp>
        <p:nvSpPr>
          <p:cNvPr id="7" name="c11-left"/>
          <p:cNvSpPr txBox="1"/>
          <p:nvPr/>
        </p:nvSpPr>
        <p:spPr>
          <a:xfrm>
            <a:off x="508000" y="2209800"/>
            <a:ext cx="5588000" cy="317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70000"/>
              </a:lnSpc>
            </a:pPr>
            <a:r>
              <a:rPr lang="en-US" sz="1300" noProof="1">
                <a:solidFill>
                  <a:srgbClr val="20302A"/>
                </a:solidFill>
                <a:latin typeface="MiSans"/>
                <a:ea typeface="MiSans"/>
              </a:rPr>
              <a:t>· requirements/project_requirements.md　场景、假设与边界</a:t>
            </a:r>
            <a:endParaRPr lang="en-US" sz="1300" noProof="1"/>
          </a:p>
          <a:p>
            <a:pPr>
              <a:lnSpc>
                <a:spcPct val="170000"/>
              </a:lnSpc>
            </a:pPr>
            <a:r>
              <a:rPr lang="en-US" sz="1300" noProof="1">
                <a:solidFill>
                  <a:srgbClr val="20302A"/>
                </a:solidFill>
                <a:latin typeface="MiSans"/>
                <a:ea typeface="MiSans"/>
              </a:rPr>
              <a:t>· references/source_register.md　资料来源登记</a:t>
            </a:r>
            <a:endParaRPr lang="en-US" sz="1300" noProof="1"/>
          </a:p>
          <a:p>
            <a:pPr>
              <a:lnSpc>
                <a:spcPct val="170000"/>
              </a:lnSpc>
            </a:pPr>
            <a:r>
              <a:rPr lang="en-US" sz="1300" noProof="1">
                <a:solidFill>
                  <a:srgbClr val="20302A"/>
                </a:solidFill>
                <a:latin typeface="MiSans"/>
                <a:ea typeface="MiSans"/>
              </a:rPr>
              <a:t>· calculations/100kw_pv_sizing.xlsx　输入与公式可修改</a:t>
            </a:r>
            <a:endParaRPr lang="en-US" sz="1300" noProof="1"/>
          </a:p>
          <a:p>
            <a:pPr>
              <a:lnSpc>
                <a:spcPct val="170000"/>
              </a:lnSpc>
            </a:pPr>
            <a:r>
              <a:rPr lang="en-US" sz="1300" noProof="1">
                <a:solidFill>
                  <a:srgbClr val="20302A"/>
                </a:solidFill>
                <a:latin typeface="MiSans"/>
                <a:ea typeface="MiSans"/>
              </a:rPr>
              <a:t>· deliverables/technical_solution.md　技术方案书</a:t>
            </a:r>
            <a:endParaRPr lang="en-US" sz="1300" noProof="1"/>
          </a:p>
          <a:p>
            <a:pPr>
              <a:lnSpc>
                <a:spcPct val="170000"/>
              </a:lnSpc>
            </a:pPr>
            <a:r>
              <a:rPr lang="en-US" sz="1300" noProof="1">
                <a:solidFill>
                  <a:srgbClr val="20302A"/>
                </a:solidFill>
                <a:latin typeface="MiSans"/>
                <a:ea typeface="MiSans"/>
              </a:rPr>
              <a:t>· deliverables/presentation.pptx　旧版 6 页 PPT</a:t>
            </a:r>
            <a:endParaRPr lang="en-US" sz="1300" noProof="1"/>
          </a:p>
          <a:p>
            <a:pPr>
              <a:lnSpc>
                <a:spcPct val="170000"/>
              </a:lnSpc>
            </a:pPr>
            <a:r>
              <a:rPr lang="en-US" sz="1300" noProof="1">
                <a:solidFill>
                  <a:srgbClr val="20302A"/>
                </a:solidFill>
                <a:latin typeface="MiSans"/>
                <a:ea typeface="MiSans"/>
              </a:rPr>
              <a:t>· sam/sam_method.md　SAM 建模方法与待运行项</a:t>
            </a:r>
            <a:endParaRPr lang="en-US" sz="1300" noProof="1"/>
          </a:p>
        </p:txBody>
      </p:sp>
      <p:sp>
        <p:nvSpPr>
          <p:cNvPr id="8" name="c11-right-head"/>
          <p:cNvSpPr txBox="1"/>
          <p:nvPr/>
        </p:nvSpPr>
        <p:spPr>
          <a:xfrm>
            <a:off x="6350000" y="1803400"/>
            <a:ext cx="3810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20000"/>
              </a:lnSpc>
            </a:pPr>
            <a:r>
              <a:rPr lang="en-US" sz="1200" noProof="1" b="1" spc="200" kern="0">
                <a:solidFill>
                  <a:srgbClr val="C97B2D"/>
                </a:solidFill>
                <a:latin typeface="MiSans"/>
                <a:ea typeface="MiSans"/>
              </a:rPr>
              <a:t>下一步（验证路径）</a:t>
            </a:r>
            <a:endParaRPr lang="en-US" sz="1200" noProof="1"/>
          </a:p>
        </p:txBody>
      </p:sp>
      <p:sp>
        <p:nvSpPr>
          <p:cNvPr id="9" name="c11-right"/>
          <p:cNvSpPr txBox="1"/>
          <p:nvPr/>
        </p:nvSpPr>
        <p:spPr>
          <a:xfrm>
            <a:off x="6350000" y="2209800"/>
            <a:ext cx="5334000" cy="317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75000"/>
              </a:lnSpc>
            </a:pPr>
            <a:r>
              <a:rPr lang="en-US" sz="1400" noProof="1" b="1">
                <a:solidFill>
                  <a:srgbClr val="20302A"/>
                </a:solidFill>
                <a:latin typeface="MiSans"/>
                <a:ea typeface="MiSans"/>
              </a:rPr>
              <a:t>1.</a:t>
            </a:r>
            <a:r>
              <a:rPr lang="en-US" sz="1400" noProof="1">
                <a:solidFill>
                  <a:srgbClr val="20302A"/>
                </a:solidFill>
                <a:latin typeface="MiSans"/>
                <a:ea typeface="MiSans"/>
              </a:rPr>
              <a:t>　用青岛实际设计温度复核 -10 / 70 °C 假设</a:t>
            </a:r>
            <a:endParaRPr lang="en-US" sz="1400" noProof="1"/>
          </a:p>
          <a:p>
            <a:pPr>
              <a:lnSpc>
                <a:spcPct val="175000"/>
              </a:lnSpc>
            </a:pPr>
            <a:r>
              <a:rPr lang="en-US" sz="1400" noProof="1" b="1">
                <a:solidFill>
                  <a:srgbClr val="20302A"/>
                </a:solidFill>
                <a:latin typeface="MiSans"/>
                <a:ea typeface="MiSans"/>
              </a:rPr>
              <a:t>2.</a:t>
            </a:r>
            <a:r>
              <a:rPr lang="en-US" sz="1400" noProof="1">
                <a:solidFill>
                  <a:srgbClr val="20302A"/>
                </a:solidFill>
                <a:latin typeface="MiSans"/>
                <a:ea typeface="MiSans"/>
              </a:rPr>
              <a:t>　安装 SAM，三套方案同输入对比年发电量</a:t>
            </a:r>
            <a:endParaRPr lang="en-US" sz="1400" noProof="1"/>
          </a:p>
          <a:p>
            <a:pPr>
              <a:lnSpc>
                <a:spcPct val="175000"/>
              </a:lnSpc>
            </a:pPr>
            <a:r>
              <a:rPr lang="en-US" sz="1400" noProof="1" b="1">
                <a:solidFill>
                  <a:srgbClr val="20302A"/>
                </a:solidFill>
                <a:latin typeface="MiSans"/>
                <a:ea typeface="MiSans"/>
              </a:rPr>
              <a:t>3.</a:t>
            </a:r>
            <a:r>
              <a:rPr lang="en-US" sz="1400" noProof="1">
                <a:solidFill>
                  <a:srgbClr val="20302A"/>
                </a:solidFill>
                <a:latin typeface="MiSans"/>
                <a:ea typeface="MiSans"/>
              </a:rPr>
              <a:t>　导出 CSV 存档到 sam/exports/，更新结果口径</a:t>
            </a:r>
            <a:endParaRPr lang="en-US" sz="1400" noProof="1"/>
          </a:p>
          <a:p>
            <a:pPr>
              <a:lnSpc>
                <a:spcPct val="175000"/>
              </a:lnSpc>
            </a:pPr>
            <a:r>
              <a:rPr lang="en-US" sz="1400" noProof="1" b="1">
                <a:solidFill>
                  <a:srgbClr val="20302A"/>
                </a:solidFill>
                <a:latin typeface="MiSans"/>
                <a:ea typeface="MiSans"/>
              </a:rPr>
              <a:t>4.</a:t>
            </a:r>
            <a:r>
              <a:rPr lang="en-US" sz="1400" noProof="1">
                <a:solidFill>
                  <a:srgbClr val="20302A"/>
                </a:solidFill>
                <a:latin typeface="MiSans"/>
                <a:ea typeface="MiSans"/>
              </a:rPr>
              <a:t>　如需落地：补充排布、结构、线缆与并网专项</a:t>
            </a:r>
            <a:endParaRPr lang="en-US" sz="1400" noProof="1"/>
          </a:p>
        </p:txBody>
      </p:sp>
      <p:sp>
        <p:nvSpPr>
          <p:cNvPr id="10" name="c11-closing"/>
          <p:cNvSpPr txBox="1"/>
          <p:nvPr/>
        </p:nvSpPr>
        <p:spPr>
          <a:xfrm>
            <a:off x="508000" y="5562600"/>
            <a:ext cx="111760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65000"/>
              </a:lnSpc>
            </a:pPr>
            <a:r>
              <a:rPr lang="en-US" sz="1600" noProof="1" b="1">
                <a:solidFill>
                  <a:srgbClr val="20302A"/>
                </a:solidFill>
                <a:latin typeface="MiSans"/>
                <a:ea typeface="MiSans"/>
              </a:rPr>
              <a:t>一句话收尾</a:t>
            </a:r>
            <a:r>
              <a:rPr lang="en-US" sz="1600" noProof="1">
                <a:solidFill>
                  <a:srgbClr val="20302A"/>
                </a:solidFill>
                <a:latin typeface="MiSans"/>
                <a:ea typeface="MiSans"/>
              </a:rPr>
              <a:t>：我完成的是可解释、可复核的方案级分析；</a:t>
            </a:r>
            <a:endParaRPr lang="en-US" sz="1600" noProof="1"/>
          </a:p>
          <a:p>
            <a:pPr>
              <a:lnSpc>
                <a:spcPct val="165000"/>
              </a:lnSpc>
            </a:pPr>
            <a:r>
              <a:rPr lang="en-US" sz="1600" noProof="1">
                <a:solidFill>
                  <a:srgbClr val="20302A"/>
                </a:solidFill>
                <a:latin typeface="MiSans"/>
                <a:ea typeface="MiSans"/>
              </a:rPr>
              <a:t>结构承载、并网审批与收益部分不冒充做过。</a:t>
            </a:r>
            <a:endParaRPr lang="en-US" sz="1600" noProof="1"/>
          </a:p>
        </p:txBody>
      </p:sp>
      <p:sp>
        <p:nvSpPr>
          <p:cNvPr id="11" name="c11-footer"/>
          <p:cNvSpPr txBox="1"/>
          <p:nvPr/>
        </p:nvSpPr>
        <p:spPr>
          <a:xfrm>
            <a:off x="508000" y="6502400"/>
            <a:ext cx="6604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PV-100 · 100 kW 工商业屋顶光伏 · 个人方案分析（非真实工程）</a:t>
            </a:r>
            <a:endParaRPr lang="en-US" sz="1200" noProof="1"/>
          </a:p>
        </p:txBody>
      </p:sp>
      <p:sp>
        <p:nvSpPr>
          <p:cNvPr id="12" name="c11-page"/>
          <p:cNvSpPr txBox="1"/>
          <p:nvPr/>
        </p:nvSpPr>
        <p:spPr>
          <a:xfrm>
            <a:off x="10414000" y="65024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r">
              <a:lnSpc>
                <a:spcPct val="150000"/>
              </a:lnSpc>
            </a:pPr>
            <a:r>
              <a:rPr lang="en-US" sz="1200" noProof="1">
                <a:solidFill>
                  <a:srgbClr val="6B7A72"/>
                </a:solidFill>
                <a:latin typeface="MiSans"/>
                <a:ea typeface="MiSans"/>
              </a:rPr>
              <a:t>11 / 11</a:t>
            </a:r>
            <a:endParaRPr lang="en-US" sz="1200" noProof="1"/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customXml/provenance.xml><?xml version="1.0" encoding="utf-8"?>
<provenance xmlns="urn:kimi:pptd:provenance">
  <producer>Kimi Slides/Design</producer>
  <statement>Built by Kimi Slides/Design with PPTD</statement>
</provenance>
</file>

<file path=docProps/app.xml><?xml version="1.0" encoding="utf-8"?>
<Properties xmlns="http://schemas.openxmlformats.org/officeDocument/2006/extended-properties">
  <Application>Neo Design</Application>
  <Company>Moonshot</Company>
  <Slides>11</Slides>
</Properties>
</file>

<file path=docProps/core.xml><?xml version="1.0" encoding="utf-8"?>
<cp:coreProperties xmlns:cp="http://schemas.openxmlformats.org/package/2006/metadata/core-properties" xmlns:dc="http://purl.org/dc/elements/1.1/">
  <dc:title>100 kW 工商业屋顶光伏方案设计与设备选型</dc:title>
  <dc:subject>100 kW 工商业屋顶光伏方案设计与设备选型</dc:subject>
  <dc:creator>Kimi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{"Label":"100 kW 工商业屋顶光伏方案设计与设备选型","ContentProducer":"001191110108MACG2KBH8F10000","ProduceID":"local-export-deb942c1f3704f189d2d49722fa96e89","ReservedCode1":"","ContentPropagator":"001191110108MACG2KBH8F20000","PropagateID":"","ReservedCode2":""}</vt:lpwstr>
  </property>
</Properties>
</file>