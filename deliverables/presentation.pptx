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0bc115efc44bf" /><Relationship Type="http://schemas.openxmlformats.org/officeDocument/2006/relationships/extended-properties" Target="/docProps/app.xml" Id="Rcbb7998bcc1a4c8a" /><Relationship Type="http://schemas.openxmlformats.org/officeDocument/2006/relationships/officeDocument" Target="/ppt/presentation.xml" Id="R3b0b1f92179b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c58b94f1a845ef"/>
  </p:sldMasterIdLst>
  <p:notesMasterIdLst>
    <p:notesMasterId xmlns:r="http://schemas.openxmlformats.org/officeDocument/2006/relationships" r:id="Rb72aa964d4f04b87"/>
  </p:notesMasterIdLst>
  <p:sldIdLst>
    <p:sldId xmlns:r="http://schemas.openxmlformats.org/officeDocument/2006/relationships" id="256" r:id="Rbb80e454fa8247b2"/>
    <p:sldId xmlns:r="http://schemas.openxmlformats.org/officeDocument/2006/relationships" id="257" r:id="R9cb5388307654de9"/>
    <p:sldId xmlns:r="http://schemas.openxmlformats.org/officeDocument/2006/relationships" id="258" r:id="Reaead61723cd4b34"/>
    <p:sldId xmlns:r="http://schemas.openxmlformats.org/officeDocument/2006/relationships" id="259" r:id="R6ebd143efdf94041"/>
    <p:sldId xmlns:r="http://schemas.openxmlformats.org/officeDocument/2006/relationships" id="260" r:id="Rc5dc412bd4d34db1"/>
    <p:sldId xmlns:r="http://schemas.openxmlformats.org/officeDocument/2006/relationships" id="261" r:id="Ra3902e9e6ebb48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5f9613be94962" /><Relationship Type="http://schemas.openxmlformats.org/officeDocument/2006/relationships/slideMaster" Target="/ppt/slideMasters/slideMaster1.xml" Id="R3dc58b94f1a845ef" /><Relationship Type="http://schemas.openxmlformats.org/officeDocument/2006/relationships/notesMaster" Target="/ppt/notesMasters/notesMaster1.xml" Id="Rb72aa964d4f04b87" /><Relationship Type="http://schemas.openxmlformats.org/officeDocument/2006/relationships/presProps" Target="/ppt/presProps.xml" Id="R02383927f5824295" /><Relationship Type="http://schemas.openxmlformats.org/officeDocument/2006/relationships/tableStyles" Target="/ppt/tableStyles.xml" Id="R1358898b7373492a" /><Relationship Type="http://schemas.openxmlformats.org/officeDocument/2006/relationships/slide" Target="/ppt/slides/slide1.xml" Id="Rbb80e454fa8247b2" /><Relationship Type="http://schemas.openxmlformats.org/officeDocument/2006/relationships/slide" Target="/ppt/slides/slide2.xml" Id="R9cb5388307654de9" /><Relationship Type="http://schemas.openxmlformats.org/officeDocument/2006/relationships/slide" Target="/ppt/slides/slide3.xml" Id="Reaead61723cd4b34" /><Relationship Type="http://schemas.openxmlformats.org/officeDocument/2006/relationships/slide" Target="/ppt/slides/slide4.xml" Id="R6ebd143efdf94041" /><Relationship Type="http://schemas.openxmlformats.org/officeDocument/2006/relationships/slide" Target="/ppt/slides/slide5.xml" Id="Rc5dc412bd4d34db1" /><Relationship Type="http://schemas.openxmlformats.org/officeDocument/2006/relationships/slide" Target="/ppt/slides/slide6.xml" Id="Ra3902e9e6ebb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97ff776b045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aecf4fac54806" /><Relationship Type="http://schemas.openxmlformats.org/officeDocument/2006/relationships/notesMaster" Target="/ppt/notesMasters/notesMaster1.xml" Id="Rf8125d8ef1f7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b12013009b4ef6" /><Relationship Type="http://schemas.openxmlformats.org/officeDocument/2006/relationships/notesMaster" Target="/ppt/notesMasters/notesMaster1.xml" Id="R64eb3182b4944f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d10a3736cc4a18" /><Relationship Type="http://schemas.openxmlformats.org/officeDocument/2006/relationships/notesMaster" Target="/ppt/notesMasters/notesMaster1.xml" Id="R3c89affc8bd4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41163a0b44437" /><Relationship Type="http://schemas.openxmlformats.org/officeDocument/2006/relationships/notesMaster" Target="/ppt/notesMasters/notesMaster1.xml" Id="Rd44a826848744e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6eae7828943e4" /><Relationship Type="http://schemas.openxmlformats.org/officeDocument/2006/relationships/notesMaster" Target="/ppt/notesMasters/notesMaster1.xml" Id="R6940e2934105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2eb3ea08564db6" /><Relationship Type="http://schemas.openxmlformats.org/officeDocument/2006/relationships/notesMaster" Target="/ppt/notesMasters/notesMaster1.xml" Id="Rf3df6c84b9864d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产品参数：厂商数据手册，详见 references/source_register.md。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场景与边界来自 requirements/project_requirements.md。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Jinko、Sungrow 参数来自厂商数据手册，见 references/source_register.md。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计算公式与结果来自 calculations/100kw_pv_sizing.xlsx 的 String_Check 工作表。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方案容量比来自 calculations/100kw_pv_sizing.xlsx 的 Schemes 工作表；年发电量暂未填入，避免虚构 SAM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项目边界与待确认项来自 requirements/project_requirements.md 和 sam/sam_method.md。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fb2f185dc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04b237d2ea41f7" /><Relationship Type="http://schemas.openxmlformats.org/officeDocument/2006/relationships/slideLayout" Target="/ppt/slideLayouts/slideLayout1.xml" Id="Rcf488d8dbddd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88d8dbddd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06a2dcd774e6e" /><Relationship Type="http://schemas.openxmlformats.org/officeDocument/2006/relationships/notesSlide" Target="/ppt/notesSlides/notesSlide1.xml" Id="Rb97f3f5194ca4b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5bfee06b84e16" /><Relationship Type="http://schemas.openxmlformats.org/officeDocument/2006/relationships/notesSlide" Target="/ppt/notesSlides/notesSlide2.xml" Id="R72887fe2f5c4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f4480d0d545d8" /><Relationship Type="http://schemas.openxmlformats.org/officeDocument/2006/relationships/notesSlide" Target="/ppt/notesSlides/notesSlide3.xml" Id="Rf5c3e6a36e514e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f0035d0f4213" /><Relationship Type="http://schemas.openxmlformats.org/officeDocument/2006/relationships/notesSlide" Target="/ppt/notesSlides/notesSlide4.xml" Id="Ref8caccf7480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c8902daf3474f" /><Relationship Type="http://schemas.openxmlformats.org/officeDocument/2006/relationships/notesSlide" Target="/ppt/notesSlides/notesSlide5.xml" Id="R467b7434fe44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e1a6d9484c88" /><Relationship Type="http://schemas.openxmlformats.org/officeDocument/2006/relationships/notesSlide" Target="/ppt/notesSlides/notesSlide6.xml" Id="Rc793c3301da4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E57D0-016F-47D2-8637-A81EBF12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100 kW 工商业屋顶光伏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9364A-9AF7-4E4F-B2FF-026D78B4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B9D9E8"/>
                </a:solidFill>
              </a:defRPr>
            </a:pPr>
            <a:r>
              <a:rPr sz="2250" b="0" i="0">
                <a:solidFill>
                  <a:srgbClr val="B9D9E8"/>
                </a:solidFill>
              </a:rPr>
              <a:t>方案设计与设备选型分析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4E57-8537-4021-8A90-0023A6F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6E4EE"/>
                </a:solidFill>
              </a:defRPr>
            </a:pPr>
            <a:r>
              <a:rPr sz="1500" b="0" i="0">
                <a:solidFill>
                  <a:srgbClr val="D6E4EE"/>
                </a:solidFill>
              </a:rPr>
              <a:t>个人虚拟案例｜青岛｜用于秋招展示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9C37C-1B6B-4744-A5F1-77A371C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667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58E85-5829-410C-87F6-B841E887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FFF"/>
                </a:solidFill>
              </a:defRPr>
            </a:pPr>
            <a:r>
              <a:rPr sz="1650" b="0" i="0">
                <a:solidFill>
                  <a:srgbClr val="FFFFFF"/>
                </a:solidFill>
              </a:rPr>
              <a:t>核心方法：需求 → 参数 → 约束 → 方案取舍</a:t>
            </a:r>
          </a:p>
        </p:txBody>
      </p:sp>
    </p:spTree>
    <p:extLst>
      <p:ext uri="{BB962C8B-B14F-4D97-AF65-F5344CB8AC3E}">
        <p14:creationId xmlns:p14="http://schemas.microsoft.com/office/powerpoint/2010/main" val="760819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B7BE2-A754-4E17-8641-7E85EFF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6F8B"/>
                </a:solidFill>
              </a:defRPr>
            </a:pPr>
            <a:r>
              <a:rPr sz="1050" b="1" i="0">
                <a:solidFill>
                  <a:srgbClr val="1F6F8B"/>
                </a:solidFill>
              </a:rPr>
              <a:t>PROJECT 3 / PERSONAL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8B986-CDC7-40AC-B186-CF615B4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324D"/>
                </a:solidFill>
              </a:defRPr>
            </a:pPr>
            <a:r>
              <a:rPr sz="2700" b="1" i="0">
                <a:solidFill>
                  <a:srgbClr val="17324D"/>
                </a:solidFill>
              </a:rPr>
              <a:t>先把问题说清楚：一个假设的工商业屋顶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8994F-2CA5-4327-B4C5-5D6D4F08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A066A-A0F6-47C8-9F84-2D1E60C8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D"/>
                </a:solidFill>
              </a:defRPr>
            </a:pPr>
            <a:r>
              <a:rPr sz="1650" b="1" i="0">
                <a:solidFill>
                  <a:srgbClr val="17324D"/>
                </a:solidFill>
              </a:rPr>
              <a:t>场景输入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B4393-4565-4158-9E6E-A0FE752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青岛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800 m² 可用屋顶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380/400 V 三相并网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交流侧目标 100 kW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无储能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2F1BF-FB7C-41A6-9107-19C312A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65722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4AC87-4BE8-4212-A264-A121037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D"/>
                </a:solidFill>
              </a:defRPr>
            </a:pPr>
            <a:r>
              <a:rPr sz="1650" b="1" i="0">
                <a:solidFill>
                  <a:srgbClr val="17324D"/>
                </a:solidFill>
              </a:rPr>
              <a:t>我没有把它包装成真实工程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D6992-93AB-4BED-BEB9-2560F95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5334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63645"/>
                </a:solidFill>
              </a:defRPr>
            </a:pPr>
            <a:r>
              <a:rPr sz="1875" b="0" i="0">
                <a:solidFill>
                  <a:srgbClr val="263645"/>
                </a:solidFill>
              </a:rPr>
              <a:t>包含：设备参数、组串匹配、容量比、面积初核</a:t>
            </a:r>
          </a:p>
          <a:p xmlns:a="http://schemas.openxmlformats.org/drawingml/2006/main">
            <a:pPr>
              <a:defRPr sz="1875" b="0" i="0">
                <a:solidFill>
                  <a:srgbClr val="263645"/>
                </a:solidFill>
              </a:defRPr>
            </a:pPr>
            <a:r>
              <a:rPr sz="1875" b="0" i="0">
                <a:solidFill>
                  <a:srgbClr val="263645"/>
                </a:solidFill>
              </a:rPr>
              <a:t>不包含：结构、施工图、保护整定、并网审批、报价与收益承诺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CA3FD-F3B6-44E5-A568-C7A2D17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F6F8B"/>
                </a:solidFill>
              </a:defRPr>
            </a:pPr>
            <a:r>
              <a:rPr sz="1500" b="1" i="0">
                <a:solidFill>
                  <a:srgbClr val="1F6F8B"/>
                </a:solidFill>
              </a:rPr>
              <a:t>这样项目重点放在“能解释的选型逻辑”上。</a:t>
            </a:r>
          </a:p>
        </p:txBody>
      </p:sp>
    </p:spTree>
    <p:extLst>
      <p:ext uri="{BB962C8B-B14F-4D97-AF65-F5344CB8AC3E}">
        <p14:creationId xmlns:p14="http://schemas.microsoft.com/office/powerpoint/2010/main" val="454312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7F57E-C474-4E02-8E0D-823723FA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6F8B"/>
                </a:solidFill>
              </a:defRPr>
            </a:pPr>
            <a:r>
              <a:rPr sz="1050" b="1" i="0">
                <a:solidFill>
                  <a:srgbClr val="1F6F8B"/>
                </a:solidFill>
              </a:rPr>
              <a:t>PROJECT 3 / PERSONAL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8400C-9E2D-464E-8292-FB4158A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324D"/>
                </a:solidFill>
              </a:defRPr>
            </a:pPr>
            <a:r>
              <a:rPr sz="2700" b="1" i="0">
                <a:solidFill>
                  <a:srgbClr val="17324D"/>
                </a:solidFill>
              </a:rPr>
              <a:t>设备选型：先看电气参数，不先看品牌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7E01-1B6C-44F1-834C-A745592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F6F8B"/>
                </a:solidFill>
              </a:defRPr>
            </a:pPr>
            <a:r>
              <a:rPr sz="1650" b="1" i="0">
                <a:solidFill>
                  <a:srgbClr val="1F6F8B"/>
                </a:solidFill>
              </a:rPr>
              <a:t>组件样本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08F9C-2820-4DA2-9EFF-AB6DA32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Jinko 585 W</a:t>
            </a:r>
          </a:p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Vmp 43.53 V｜Voc 52.47 V</a:t>
            </a:r>
          </a:p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Imp 13.44 A｜Isc 14.07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F93CA-44D6-4A18-B200-FD3A5285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F6F8B"/>
                </a:solidFill>
              </a:defRPr>
            </a:pPr>
            <a:r>
              <a:rPr sz="1650" b="1" i="0">
                <a:solidFill>
                  <a:srgbClr val="1F6F8B"/>
                </a:solidFill>
              </a:rPr>
              <a:t>逆变器样本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417A7-B2A6-477B-B4F7-FE3DB51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Sungrow SG110CX</a:t>
            </a:r>
          </a:p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1100 V max｜200–1000 V MPPT</a:t>
            </a:r>
          </a:p>
          <a:p xmlns:a="http://schemas.openxmlformats.org/drawingml/2006/main">
            <a:pPr>
              <a:defRPr sz="1950" b="0" i="0">
                <a:solidFill>
                  <a:srgbClr val="263645"/>
                </a:solidFill>
              </a:defRPr>
            </a:pPr>
            <a:r>
              <a:rPr sz="1950" b="0" i="0">
                <a:solidFill>
                  <a:srgbClr val="263645"/>
                </a:solidFill>
              </a:rPr>
              <a:t>9 MPPT｜26 A / MPPT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1DD41-8355-4074-9C9A-E7D412E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572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75724-C7C6-472E-8087-982CF2C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24D"/>
                </a:solidFill>
              </a:defRPr>
            </a:pPr>
            <a:r>
              <a:rPr sz="1500" b="1" i="0">
                <a:solidFill>
                  <a:srgbClr val="17324D"/>
                </a:solidFill>
              </a:rPr>
              <a:t>比较逻辑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94E4-7F90-4E1F-A661-6655B02F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577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63645"/>
                </a:solidFill>
              </a:defRPr>
            </a:pPr>
            <a:r>
              <a:rPr sz="1650" b="0" i="0">
                <a:solidFill>
                  <a:srgbClr val="263645"/>
                </a:solidFill>
              </a:rPr>
              <a:t>工作电压更高、组串更容易落在 MPPT 区间；输入电流不做满，给配置和维护留余量。</a:t>
            </a:r>
          </a:p>
        </p:txBody>
      </p:sp>
    </p:spTree>
    <p:extLst>
      <p:ext uri="{BB962C8B-B14F-4D97-AF65-F5344CB8AC3E}">
        <p14:creationId xmlns:p14="http://schemas.microsoft.com/office/powerpoint/2010/main" val="76840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2AF94-FEA5-4829-8D20-66DC80E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6F8B"/>
                </a:solidFill>
              </a:defRPr>
            </a:pPr>
            <a:r>
              <a:rPr sz="1050" b="1" i="0">
                <a:solidFill>
                  <a:srgbClr val="1F6F8B"/>
                </a:solidFill>
              </a:rPr>
              <a:t>PROJECT 3 / PERSONAL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78643-D56D-47B5-9403-A5E1C78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324D"/>
                </a:solidFill>
              </a:defRPr>
            </a:pPr>
            <a:r>
              <a:rPr sz="2700" b="1" i="0">
                <a:solidFill>
                  <a:srgbClr val="17324D"/>
                </a:solidFill>
              </a:rPr>
              <a:t>组串校核：我最需要讲清楚的一页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4FB76-3A6F-4914-9A9C-A11025F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CF36-EE3A-4E53-95BE-8AAEE3B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24D"/>
                </a:solidFill>
              </a:defRPr>
            </a:pPr>
            <a:r>
              <a:rPr sz="2025" b="1" i="0">
                <a:solidFill>
                  <a:srgbClr val="17324D"/>
                </a:solidFill>
              </a:rPr>
              <a:t>低温看 Voc 上限｜高温看 Vmp 下限｜并联看 MPPT 输入电流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88C15-F56E-4425-96C9-95D8700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00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低温 Voc：52.47 × [1 + (-0.0025) × (-10 - 25)] = 57.1 V/块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19 块/串：57.1 × 19 ≈ 1084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高温 Vmp：43.53 × [1 + (-0.0029) × (70 - 25)] = 37.8 V/块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19 块/串：37.8 × 19 ≈ 719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06EF4-CEEE-4D28-8488-3B14FB3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572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2E254-6F4C-43FF-A2D4-13CFD32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1613A"/>
                </a:solidFill>
              </a:defRPr>
            </a:pPr>
            <a:r>
              <a:rPr sz="1500" b="1" i="0">
                <a:solidFill>
                  <a:srgbClr val="21613A"/>
                </a:solidFill>
              </a:rPr>
              <a:t>结论：19 块/串通过本项目假设下的电压校核；每个 MPPT 先按 1 串接入，避免电流余量被用满。</a:t>
            </a:r>
          </a:p>
        </p:txBody>
      </p:sp>
    </p:spTree>
    <p:extLst>
      <p:ext uri="{BB962C8B-B14F-4D97-AF65-F5344CB8AC3E}">
        <p14:creationId xmlns:p14="http://schemas.microsoft.com/office/powerpoint/2010/main" val="1359201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9143A-AA41-4859-9207-A6A28985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6F8B"/>
                </a:solidFill>
              </a:defRPr>
            </a:pPr>
            <a:r>
              <a:rPr sz="1050" b="1" i="0">
                <a:solidFill>
                  <a:srgbClr val="1F6F8B"/>
                </a:solidFill>
              </a:rPr>
              <a:t>PROJECT 3 / PERSONAL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AC443-B156-49EE-86C3-2333556F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324D"/>
                </a:solidFill>
              </a:defRPr>
            </a:pPr>
            <a:r>
              <a:rPr sz="2700" b="1" i="0">
                <a:solidFill>
                  <a:srgbClr val="17324D"/>
                </a:solidFill>
              </a:rPr>
              <a:t>三套方案：不是“功率越大越好”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DE7C3-CF7B-4E0F-A1ED-387F1A9F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43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FC02A-B3E1-4343-A233-E7E6BD2A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24D"/>
                </a:solidFill>
              </a:defRPr>
            </a:pPr>
            <a:r>
              <a:rPr sz="1875" b="1" i="0">
                <a:solidFill>
                  <a:srgbClr val="17324D"/>
                </a:solidFill>
              </a:rPr>
              <a:t>A 保守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86AD5-5FB4-4D37-8215-CAFDA09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F6F8B"/>
                </a:solidFill>
              </a:defRPr>
            </a:pPr>
            <a:r>
              <a:rPr sz="3450" b="1" i="0">
                <a:solidFill>
                  <a:srgbClr val="1F6F8B"/>
                </a:solidFill>
              </a:rPr>
              <a:t>1.00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7AB84-106D-4FA3-84FC-3348BEA8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184"/>
                </a:solidFill>
              </a:defRPr>
            </a:pPr>
            <a:r>
              <a:rPr sz="1275" b="0" i="0">
                <a:solidFill>
                  <a:srgbClr val="5E7184"/>
                </a:solidFill>
              </a:rPr>
              <a:t>容量比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6A5B-2916-47F1-A38B-05217DF4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63645"/>
                </a:solidFill>
              </a:defRPr>
            </a:pPr>
            <a:r>
              <a:rPr sz="1800" b="1" i="0">
                <a:solidFill>
                  <a:srgbClr val="263645"/>
                </a:solidFill>
              </a:rPr>
              <a:t>100.0 kWp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FB564-B021-416B-9359-2C7C780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63645"/>
                </a:solidFill>
              </a:defRPr>
            </a:pPr>
            <a:r>
              <a:rPr sz="1275" b="0" i="0">
                <a:solidFill>
                  <a:srgbClr val="263645"/>
                </a:solidFill>
              </a:rPr>
              <a:t>面积压力较小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B5D8B-1C20-4560-B7E5-3DA01D2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3143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5BAB4-D564-4CDB-9F1D-BEE086C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24D"/>
                </a:solidFill>
              </a:defRPr>
            </a:pPr>
            <a:r>
              <a:rPr sz="1875" b="1" i="0">
                <a:solidFill>
                  <a:srgbClr val="17324D"/>
                </a:solidFill>
              </a:rPr>
              <a:t>B 平衡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B280A-7144-4F18-9742-110BA77A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F6F8B"/>
                </a:solidFill>
              </a:defRPr>
            </a:pPr>
            <a:r>
              <a:rPr sz="3450" b="1" i="0">
                <a:solidFill>
                  <a:srgbClr val="1F6F8B"/>
                </a:solidFill>
              </a:rPr>
              <a:t>1.11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08C52-FE16-489B-B809-284BE41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184"/>
                </a:solidFill>
              </a:defRPr>
            </a:pPr>
            <a:r>
              <a:rPr sz="1275" b="0" i="0">
                <a:solidFill>
                  <a:srgbClr val="5E7184"/>
                </a:solidFill>
              </a:rPr>
              <a:t>容量比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ABDF9-4827-4D35-A6EC-D5BFABC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63645"/>
                </a:solidFill>
              </a:defRPr>
            </a:pPr>
            <a:r>
              <a:rPr sz="1800" b="1" i="0">
                <a:solidFill>
                  <a:srgbClr val="263645"/>
                </a:solidFill>
              </a:rPr>
              <a:t>111.2 kWp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3D5F0-47D0-4297-84A0-D9ED949D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63645"/>
                </a:solidFill>
              </a:defRPr>
            </a:pPr>
            <a:r>
              <a:rPr sz="1275" b="0" i="0">
                <a:solidFill>
                  <a:srgbClr val="263645"/>
                </a:solidFill>
              </a:rPr>
              <a:t>发电量、面积、复杂度更均衡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2FB5D-E8BF-40C3-AC3D-662A6F7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1432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AD37F-0075-4BDF-B5FE-0E01F8C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24D"/>
                </a:solidFill>
              </a:defRPr>
            </a:pPr>
            <a:r>
              <a:rPr sz="1875" b="1" i="0">
                <a:solidFill>
                  <a:srgbClr val="17324D"/>
                </a:solidFill>
              </a:rPr>
              <a:t>C 偏高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BEACD-8E94-43AE-85DC-9116F4B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1F6F8B"/>
                </a:solidFill>
              </a:defRPr>
            </a:pPr>
            <a:r>
              <a:rPr sz="3450" b="1" i="0">
                <a:solidFill>
                  <a:srgbClr val="1F6F8B"/>
                </a:solidFill>
              </a:rPr>
              <a:t>1.28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C598-BC1C-4F13-9A45-B7D71B9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184"/>
                </a:solidFill>
              </a:defRPr>
            </a:pPr>
            <a:r>
              <a:rPr sz="1275" b="0" i="0">
                <a:solidFill>
                  <a:srgbClr val="5E7184"/>
                </a:solidFill>
              </a:rPr>
              <a:t>容量比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997F8-0849-436B-AC30-4AC514DE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63645"/>
                </a:solidFill>
              </a:defRPr>
            </a:pPr>
            <a:r>
              <a:rPr sz="1800" b="1" i="0">
                <a:solidFill>
                  <a:srgbClr val="263645"/>
                </a:solidFill>
              </a:rPr>
              <a:t>127.6 kWp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71EA0-8F05-40D1-8C04-0460129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63645"/>
                </a:solidFill>
              </a:defRPr>
            </a:pPr>
            <a:r>
              <a:rPr sz="1275" b="0" i="0">
                <a:solidFill>
                  <a:srgbClr val="263645"/>
                </a:solidFill>
              </a:rPr>
              <a:t>组件更多，需关注削峰和屋顶压力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DD26C-E442-483E-A591-29CAEFAA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24D"/>
                </a:solidFill>
              </a:defRPr>
            </a:pPr>
            <a:r>
              <a:rPr sz="1725" b="1" i="0">
                <a:solidFill>
                  <a:srgbClr val="17324D"/>
                </a:solidFill>
              </a:rPr>
              <a:t>推荐候选：B。理由是综合取舍更平衡，不是因为每一项都最高。</a:t>
            </a:r>
          </a:p>
        </p:txBody>
      </p:sp>
    </p:spTree>
    <p:extLst>
      <p:ext uri="{BB962C8B-B14F-4D97-AF65-F5344CB8AC3E}">
        <p14:creationId xmlns:p14="http://schemas.microsoft.com/office/powerpoint/2010/main" val="704259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16C78-BC10-4901-846C-6466F593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F6F8B"/>
                </a:solidFill>
              </a:defRPr>
            </a:pPr>
            <a:r>
              <a:rPr sz="1050" b="1" i="0">
                <a:solidFill>
                  <a:srgbClr val="1F6F8B"/>
                </a:solidFill>
              </a:rPr>
              <a:t>PROJECT 3 / PERSONAL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23516-7AD6-4FC0-827A-54461F42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324D"/>
                </a:solidFill>
              </a:defRPr>
            </a:pPr>
            <a:r>
              <a:rPr sz="2700" b="1" i="0">
                <a:solidFill>
                  <a:srgbClr val="17324D"/>
                </a:solidFill>
              </a:rPr>
              <a:t>交付与不足：把边界讲出来反而更可靠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AC009-B9ED-4B86-98A9-1119ACCE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953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0C18-EAE3-463C-8EA8-5924DB5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6F8B"/>
                </a:solidFill>
              </a:defRPr>
            </a:pPr>
            <a:r>
              <a:rPr sz="1800" b="1" i="0">
                <a:solidFill>
                  <a:srgbClr val="1F6F8B"/>
                </a:solidFill>
              </a:rPr>
              <a:t>已交付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3EBA4-FBF5-4209-A796-49D077BD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81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参数来源登记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输入与公式计算表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组串和面积初核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三套方案比较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技术方案书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✓ SAM 后续运行方法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E88FC-DA7E-4419-8A0C-91FA0A0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953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B452D-1806-4358-96F2-E390FED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24D"/>
                </a:solidFill>
              </a:defRPr>
            </a:pPr>
            <a:r>
              <a:rPr sz="1800" b="1" i="0">
                <a:solidFill>
                  <a:srgbClr val="17324D"/>
                </a:solidFill>
              </a:rPr>
              <a:t>后续必须确认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706FD-9925-40D3-8082-4B786147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381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结构承载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真实排布与通道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线缆与保护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并网要求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实际 SAM 导出</a:t>
            </a:r>
          </a:p>
          <a:p xmlns:a="http://schemas.openxmlformats.org/drawingml/2006/main">
            <a:pPr>
              <a:defRPr sz="1800" b="0" i="0">
                <a:solidFill>
                  <a:srgbClr val="263645"/>
                </a:solidFill>
              </a:defRPr>
            </a:pPr>
            <a:r>
              <a:rPr sz="1800" b="0" i="0">
                <a:solidFill>
                  <a:srgbClr val="263645"/>
                </a:solidFill>
              </a:rPr>
              <a:t>商务报价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BEB90-28EF-42F9-9EBA-AE43A7EF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F6F8B"/>
                </a:solidFill>
              </a:defRPr>
            </a:pPr>
            <a:r>
              <a:rPr sz="1800" b="1" i="0">
                <a:solidFill>
                  <a:srgbClr val="1F6F8B"/>
                </a:solidFill>
              </a:rPr>
              <a:t>面试表达：我完成的是方案级分析，不冒充做过最终工程设计。</a:t>
            </a:r>
          </a:p>
        </p:txBody>
      </p:sp>
    </p:spTree>
    <p:extLst>
      <p:ext uri="{BB962C8B-B14F-4D97-AF65-F5344CB8AC3E}">
        <p14:creationId xmlns:p14="http://schemas.microsoft.com/office/powerpoint/2010/main" val="195083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2026-07-29T16:23:47.5540000Z</dcterms:created>
  <dcterms:modified xsi:type="dcterms:W3CDTF">2026-07-29T16:23:47.5540000Z</dcterms:modified>
</coreProperties>
</file>